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9" r:id="rId1"/>
  </p:sldMasterIdLst>
  <p:notesMasterIdLst>
    <p:notesMasterId r:id="rId26"/>
  </p:notesMasterIdLst>
  <p:sldIdLst>
    <p:sldId id="256" r:id="rId2"/>
    <p:sldId id="258" r:id="rId3"/>
    <p:sldId id="259" r:id="rId4"/>
    <p:sldId id="305" r:id="rId5"/>
    <p:sldId id="260" r:id="rId6"/>
    <p:sldId id="307" r:id="rId7"/>
    <p:sldId id="310" r:id="rId8"/>
    <p:sldId id="308" r:id="rId9"/>
    <p:sldId id="311" r:id="rId10"/>
    <p:sldId id="312" r:id="rId11"/>
    <p:sldId id="313" r:id="rId12"/>
    <p:sldId id="264" r:id="rId13"/>
    <p:sldId id="314" r:id="rId14"/>
    <p:sldId id="316" r:id="rId15"/>
    <p:sldId id="315" r:id="rId16"/>
    <p:sldId id="318" r:id="rId17"/>
    <p:sldId id="317" r:id="rId18"/>
    <p:sldId id="319" r:id="rId19"/>
    <p:sldId id="320" r:id="rId20"/>
    <p:sldId id="321" r:id="rId21"/>
    <p:sldId id="322" r:id="rId22"/>
    <p:sldId id="323" r:id="rId23"/>
    <p:sldId id="261" r:id="rId24"/>
    <p:sldId id="306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84A4"/>
    <a:srgbClr val="0B3550"/>
    <a:srgbClr val="F6F6F6"/>
    <a:srgbClr val="194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3CF2A0-68B1-41B4-979C-EC34FEED3A51}">
  <a:tblStyle styleId="{873CF2A0-68B1-41B4-979C-EC34FEED3A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7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343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7d1415e7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7d1415e7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74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750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6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204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778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5036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529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80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156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102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340135a0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340135a0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96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29038"/>
            <a:ext cx="6919800" cy="200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721100"/>
            <a:ext cx="2308200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Aptos Light" panose="020B0004020202020204" pitchFamily="34" charset="0"/>
                <a:ea typeface="Aptos Light" panose="020B0004020202020204" pitchFamily="34" charset="0"/>
                <a:cs typeface="Aptos Light" panose="020B0004020202020204" pitchFamily="34" charset="0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grpSp>
        <p:nvGrpSpPr>
          <p:cNvPr id="11" name="Google Shape;11;p2"/>
          <p:cNvGrpSpPr/>
          <p:nvPr/>
        </p:nvGrpSpPr>
        <p:grpSpPr>
          <a:xfrm>
            <a:off x="-386316" y="-769880"/>
            <a:ext cx="9276274" cy="9176905"/>
            <a:chOff x="-386316" y="-769880"/>
            <a:chExt cx="9276274" cy="9176905"/>
          </a:xfrm>
        </p:grpSpPr>
        <p:sp>
          <p:nvSpPr>
            <p:cNvPr id="12" name="Google Shape;12;p2"/>
            <p:cNvSpPr/>
            <p:nvPr/>
          </p:nvSpPr>
          <p:spPr>
            <a:xfrm>
              <a:off x="7629958" y="3058625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736200" y="3879112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312387" y="-769880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-38477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-386316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F2557A">
                <a:alpha val="524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64E8B-505E-5DF4-837D-E05AED200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13225" y="2271750"/>
            <a:ext cx="3318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  <a:latin typeface="Aptos Light" panose="020B0004020202020204" pitchFamily="34" charset="0"/>
                <a:ea typeface="Aptos Light" panose="020B0004020202020204" pitchFamily="34" charset="0"/>
                <a:cs typeface="Aptos Light" panose="020B0004020202020204" pitchFamily="34" charset="0"/>
                <a:sym typeface="Alber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6DF2E-9577-1A86-53CF-F5F40AE38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ED9AB9-67A0-5EAA-C451-051BA3A52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2B97A-2E28-F594-D85E-F97E18414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1777663" y="176167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5757738" y="176167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3"/>
          </p:nvPr>
        </p:nvSpPr>
        <p:spPr>
          <a:xfrm>
            <a:off x="5757737" y="2793753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4"/>
          </p:nvPr>
        </p:nvSpPr>
        <p:spPr>
          <a:xfrm>
            <a:off x="1777663" y="2793759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5" hasCustomPrompt="1"/>
          </p:nvPr>
        </p:nvSpPr>
        <p:spPr>
          <a:xfrm>
            <a:off x="876463" y="148027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6" hasCustomPrompt="1"/>
          </p:nvPr>
        </p:nvSpPr>
        <p:spPr>
          <a:xfrm>
            <a:off x="4856538" y="25123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7" hasCustomPrompt="1"/>
          </p:nvPr>
        </p:nvSpPr>
        <p:spPr>
          <a:xfrm>
            <a:off x="4856538" y="148027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8" hasCustomPrompt="1"/>
          </p:nvPr>
        </p:nvSpPr>
        <p:spPr>
          <a:xfrm>
            <a:off x="876463" y="25123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9"/>
          </p:nvPr>
        </p:nvSpPr>
        <p:spPr>
          <a:xfrm>
            <a:off x="5757737" y="3825828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3"/>
          </p:nvPr>
        </p:nvSpPr>
        <p:spPr>
          <a:xfrm>
            <a:off x="1777663" y="382582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6538" y="35444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5" hasCustomPrompt="1"/>
          </p:nvPr>
        </p:nvSpPr>
        <p:spPr>
          <a:xfrm>
            <a:off x="876463" y="35444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6"/>
          </p:nvPr>
        </p:nvSpPr>
        <p:spPr>
          <a:xfrm>
            <a:off x="1777662" y="148027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7"/>
          </p:nvPr>
        </p:nvSpPr>
        <p:spPr>
          <a:xfrm>
            <a:off x="5757738" y="148027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8"/>
          </p:nvPr>
        </p:nvSpPr>
        <p:spPr>
          <a:xfrm>
            <a:off x="5757737" y="2512350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9"/>
          </p:nvPr>
        </p:nvSpPr>
        <p:spPr>
          <a:xfrm>
            <a:off x="1777662" y="2512338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0"/>
          </p:nvPr>
        </p:nvSpPr>
        <p:spPr>
          <a:xfrm>
            <a:off x="5757737" y="354442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1"/>
          </p:nvPr>
        </p:nvSpPr>
        <p:spPr>
          <a:xfrm>
            <a:off x="1777662" y="354442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92" name="Google Shape;92;p13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671E8-36EA-8D00-2A61-1BA3D13644C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720000" y="1276938"/>
            <a:ext cx="37080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"/>
          </p:nvPr>
        </p:nvSpPr>
        <p:spPr>
          <a:xfrm>
            <a:off x="720000" y="2750263"/>
            <a:ext cx="37080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07" name="Google Shape;107;p15"/>
          <p:cNvGrpSpPr/>
          <p:nvPr/>
        </p:nvGrpSpPr>
        <p:grpSpPr>
          <a:xfrm>
            <a:off x="-1050200" y="3866575"/>
            <a:ext cx="1931825" cy="6297300"/>
            <a:chOff x="-1050200" y="3866575"/>
            <a:chExt cx="1931825" cy="6297300"/>
          </a:xfrm>
        </p:grpSpPr>
        <p:sp>
          <p:nvSpPr>
            <p:cNvPr id="108" name="Google Shape;108;p15"/>
            <p:cNvSpPr/>
            <p:nvPr/>
          </p:nvSpPr>
          <p:spPr>
            <a:xfrm rot="10800000" flipH="1">
              <a:off x="-1050200" y="3866575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 rot="10800000" flipH="1">
              <a:off x="211725" y="4650500"/>
              <a:ext cx="669900" cy="66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1CA22-8E7C-D3C3-2913-8203E5170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 flipH="1">
            <a:off x="-822466" y="-3825506"/>
            <a:ext cx="9983475" cy="8969006"/>
            <a:chOff x="-22300" y="-3825506"/>
            <a:chExt cx="9983475" cy="8969006"/>
          </a:xfrm>
        </p:grpSpPr>
        <p:sp>
          <p:nvSpPr>
            <p:cNvPr id="138" name="Google Shape;138;p20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B2217-98AA-C242-65FF-F678C809E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1"/>
          </p:nvPr>
        </p:nvSpPr>
        <p:spPr>
          <a:xfrm>
            <a:off x="3099859" y="1710975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2"/>
          </p:nvPr>
        </p:nvSpPr>
        <p:spPr>
          <a:xfrm>
            <a:off x="3099859" y="3946825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3"/>
          </p:nvPr>
        </p:nvSpPr>
        <p:spPr>
          <a:xfrm>
            <a:off x="3099859" y="2828900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4"/>
          </p:nvPr>
        </p:nvSpPr>
        <p:spPr>
          <a:xfrm>
            <a:off x="3099859" y="1324575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5"/>
          </p:nvPr>
        </p:nvSpPr>
        <p:spPr>
          <a:xfrm>
            <a:off x="3099859" y="3560425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6"/>
          </p:nvPr>
        </p:nvSpPr>
        <p:spPr>
          <a:xfrm>
            <a:off x="3099859" y="2442500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58" name="Google Shape;158;p22"/>
          <p:cNvGrpSpPr/>
          <p:nvPr/>
        </p:nvGrpSpPr>
        <p:grpSpPr>
          <a:xfrm>
            <a:off x="-393450" y="136650"/>
            <a:ext cx="9412000" cy="7788778"/>
            <a:chOff x="-393450" y="136650"/>
            <a:chExt cx="9412000" cy="7788778"/>
          </a:xfrm>
        </p:grpSpPr>
        <p:sp>
          <p:nvSpPr>
            <p:cNvPr id="159" name="Google Shape;159;p22"/>
            <p:cNvSpPr/>
            <p:nvPr/>
          </p:nvSpPr>
          <p:spPr>
            <a:xfrm rot="10800000" flipH="1">
              <a:off x="8492050" y="136650"/>
              <a:ext cx="526500" cy="52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60" name="Google Shape;160;p22"/>
            <p:cNvGrpSpPr/>
            <p:nvPr/>
          </p:nvGrpSpPr>
          <p:grpSpPr>
            <a:xfrm>
              <a:off x="-393450" y="2571752"/>
              <a:ext cx="1462351" cy="5353676"/>
              <a:chOff x="-2108325" y="-2157248"/>
              <a:chExt cx="1462351" cy="5353676"/>
            </a:xfrm>
          </p:grpSpPr>
          <p:sp>
            <p:nvSpPr>
              <p:cNvPr id="161" name="Google Shape;161;p22"/>
              <p:cNvSpPr/>
              <p:nvPr/>
            </p:nvSpPr>
            <p:spPr>
              <a:xfrm rot="10800000" flipH="1">
                <a:off x="-2108325" y="-2157248"/>
                <a:ext cx="793500" cy="793500"/>
              </a:xfrm>
              <a:prstGeom prst="ellipse">
                <a:avLst/>
              </a:prstGeom>
              <a:solidFill>
                <a:srgbClr val="74CEC4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62" name="Google Shape;162;p22"/>
              <p:cNvSpPr/>
              <p:nvPr/>
            </p:nvSpPr>
            <p:spPr>
              <a:xfrm rot="10800000">
                <a:off x="-1665375" y="-1168572"/>
                <a:ext cx="1019400" cy="4365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C128B-EFF4-7202-8F82-90EE1C292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"/>
          </p:nvPr>
        </p:nvSpPr>
        <p:spPr>
          <a:xfrm>
            <a:off x="716625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2"/>
          </p:nvPr>
        </p:nvSpPr>
        <p:spPr>
          <a:xfrm>
            <a:off x="3352500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3"/>
          </p:nvPr>
        </p:nvSpPr>
        <p:spPr>
          <a:xfrm>
            <a:off x="5988375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4"/>
          </p:nvPr>
        </p:nvSpPr>
        <p:spPr>
          <a:xfrm>
            <a:off x="716625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5"/>
          </p:nvPr>
        </p:nvSpPr>
        <p:spPr>
          <a:xfrm>
            <a:off x="3352500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6"/>
          </p:nvPr>
        </p:nvSpPr>
        <p:spPr>
          <a:xfrm>
            <a:off x="5988375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1" name="Google Shape;171;p23"/>
          <p:cNvGrpSpPr/>
          <p:nvPr/>
        </p:nvGrpSpPr>
        <p:grpSpPr>
          <a:xfrm>
            <a:off x="-928775" y="-93025"/>
            <a:ext cx="10062875" cy="6791097"/>
            <a:chOff x="-928775" y="-93025"/>
            <a:chExt cx="10062875" cy="6791097"/>
          </a:xfrm>
        </p:grpSpPr>
        <p:sp>
          <p:nvSpPr>
            <p:cNvPr id="172" name="Google Shape;172;p23"/>
            <p:cNvSpPr/>
            <p:nvPr/>
          </p:nvSpPr>
          <p:spPr>
            <a:xfrm>
              <a:off x="-928775" y="-93025"/>
              <a:ext cx="1648800" cy="1648800"/>
            </a:xfrm>
            <a:prstGeom prst="ellipse">
              <a:avLst/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73" name="Google Shape;173;p23"/>
            <p:cNvGrpSpPr/>
            <p:nvPr/>
          </p:nvGrpSpPr>
          <p:grpSpPr>
            <a:xfrm>
              <a:off x="8424000" y="4173728"/>
              <a:ext cx="710100" cy="2524343"/>
              <a:chOff x="8424000" y="4173728"/>
              <a:chExt cx="710100" cy="2524343"/>
            </a:xfrm>
          </p:grpSpPr>
          <p:sp>
            <p:nvSpPr>
              <p:cNvPr id="174" name="Google Shape;174;p23"/>
              <p:cNvSpPr/>
              <p:nvPr/>
            </p:nvSpPr>
            <p:spPr>
              <a:xfrm>
                <a:off x="8609250" y="4173728"/>
                <a:ext cx="339600" cy="339600"/>
              </a:xfrm>
              <a:prstGeom prst="ellipse">
                <a:avLst/>
              </a:prstGeom>
              <a:solidFill>
                <a:srgbClr val="F2557A">
                  <a:alpha val="762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8424000" y="4608572"/>
                <a:ext cx="710100" cy="2089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D3D222-378A-2726-7A83-7910BA276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1"/>
          </p:nvPr>
        </p:nvSpPr>
        <p:spPr>
          <a:xfrm>
            <a:off x="720000" y="1781139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2"/>
          </p:nvPr>
        </p:nvSpPr>
        <p:spPr>
          <a:xfrm>
            <a:off x="4571802" y="177880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3"/>
          </p:nvPr>
        </p:nvSpPr>
        <p:spPr>
          <a:xfrm>
            <a:off x="720000" y="3635325"/>
            <a:ext cx="7704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4"/>
          </p:nvPr>
        </p:nvSpPr>
        <p:spPr>
          <a:xfrm>
            <a:off x="720000" y="1467825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5"/>
          </p:nvPr>
        </p:nvSpPr>
        <p:spPr>
          <a:xfrm>
            <a:off x="4571800" y="1467825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6"/>
          </p:nvPr>
        </p:nvSpPr>
        <p:spPr>
          <a:xfrm>
            <a:off x="720000" y="3325377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4" name="Google Shape;184;p24"/>
          <p:cNvGrpSpPr/>
          <p:nvPr/>
        </p:nvGrpSpPr>
        <p:grpSpPr>
          <a:xfrm>
            <a:off x="-22300" y="-3825506"/>
            <a:ext cx="9983475" cy="8969006"/>
            <a:chOff x="-22300" y="-3825506"/>
            <a:chExt cx="9983475" cy="8969006"/>
          </a:xfrm>
        </p:grpSpPr>
        <p:sp>
          <p:nvSpPr>
            <p:cNvPr id="185" name="Google Shape;185;p24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7" name="Google Shape;187;p24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D705BC-E399-CF2B-AD75-E9078E10F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1"/>
          </p:nvPr>
        </p:nvSpPr>
        <p:spPr>
          <a:xfrm>
            <a:off x="2347950" y="15987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3" name="Google Shape;233;p28"/>
          <p:cNvSpPr txBox="1"/>
          <p:nvPr/>
        </p:nvSpPr>
        <p:spPr>
          <a:xfrm>
            <a:off x="2559250" y="3478300"/>
            <a:ext cx="4025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</a:t>
            </a:r>
            <a:r>
              <a:rPr lang="en" sz="1200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and includes icons by</a:t>
            </a:r>
            <a:r>
              <a:rPr lang="en" sz="1200" b="1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</a:t>
            </a:r>
            <a:r>
              <a:rPr lang="en" sz="1200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and infographics &amp; images by 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endParaRPr sz="1200" b="1" u="sng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34" name="Google Shape;234;p28"/>
          <p:cNvGrpSpPr/>
          <p:nvPr/>
        </p:nvGrpSpPr>
        <p:grpSpPr>
          <a:xfrm flipH="1">
            <a:off x="262209" y="-769880"/>
            <a:ext cx="9276274" cy="9176905"/>
            <a:chOff x="-386316" y="-769880"/>
            <a:chExt cx="9276274" cy="9176905"/>
          </a:xfrm>
        </p:grpSpPr>
        <p:sp>
          <p:nvSpPr>
            <p:cNvPr id="235" name="Google Shape;235;p28"/>
            <p:cNvSpPr/>
            <p:nvPr/>
          </p:nvSpPr>
          <p:spPr>
            <a:xfrm>
              <a:off x="7629958" y="3058625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6736200" y="3879112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6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7" name="Google Shape;237;p28"/>
            <p:cNvSpPr/>
            <p:nvPr/>
          </p:nvSpPr>
          <p:spPr>
            <a:xfrm rot="10800000">
              <a:off x="312387" y="-769880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8" name="Google Shape;238;p28"/>
            <p:cNvSpPr/>
            <p:nvPr/>
          </p:nvSpPr>
          <p:spPr>
            <a:xfrm rot="10800000">
              <a:off x="-38477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74CEC4">
                <a:alpha val="606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 rot="10800000">
              <a:off x="-386316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AD136-F396-49F5-9022-643A09332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 flipH="1">
            <a:off x="8312375" y="-678400"/>
            <a:ext cx="1648800" cy="16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29"/>
          <p:cNvSpPr/>
          <p:nvPr/>
        </p:nvSpPr>
        <p:spPr>
          <a:xfrm rot="5400000" flipH="1">
            <a:off x="-27100" y="4612200"/>
            <a:ext cx="536100" cy="5265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29"/>
          <p:cNvSpPr/>
          <p:nvPr/>
        </p:nvSpPr>
        <p:spPr>
          <a:xfrm flipH="1">
            <a:off x="171200" y="4469010"/>
            <a:ext cx="526500" cy="526500"/>
          </a:xfrm>
          <a:prstGeom prst="ellipse">
            <a:avLst/>
          </a:prstGeom>
          <a:solidFill>
            <a:srgbClr val="0584A4">
              <a:alpha val="31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819550" y="-3825506"/>
            <a:ext cx="1483500" cy="4365000"/>
          </a:xfrm>
          <a:prstGeom prst="roundRect">
            <a:avLst>
              <a:gd name="adj" fmla="val 50000"/>
            </a:avLst>
          </a:prstGeom>
          <a:solidFill>
            <a:srgbClr val="FFFFFF">
              <a:alpha val="412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9064A5-61A8-B4B8-E98D-EF522D734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30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247" name="Google Shape;247;p30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EE325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A298FB-D97B-108E-2A98-1A1C9F026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2312325" y="3532875"/>
            <a:ext cx="5853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2312275" y="1078725"/>
            <a:ext cx="5853600" cy="23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grpSp>
        <p:nvGrpSpPr>
          <p:cNvPr id="99" name="Google Shape;99;p14"/>
          <p:cNvGrpSpPr/>
          <p:nvPr/>
        </p:nvGrpSpPr>
        <p:grpSpPr>
          <a:xfrm>
            <a:off x="-3284446" y="334071"/>
            <a:ext cx="5348400" cy="2153758"/>
            <a:chOff x="-3284446" y="334071"/>
            <a:chExt cx="5348400" cy="2153758"/>
          </a:xfrm>
        </p:grpSpPr>
        <p:sp>
          <p:nvSpPr>
            <p:cNvPr id="100" name="Google Shape;100;p14"/>
            <p:cNvSpPr/>
            <p:nvPr/>
          </p:nvSpPr>
          <p:spPr>
            <a:xfrm rot="5400000" flipH="1">
              <a:off x="1474729" y="1719229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5400000" flipH="1">
              <a:off x="-1240246" y="-1710129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rot="5400000" flipH="1">
              <a:off x="-1240233" y="4129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EE401-AE7F-62A7-55CA-9DA00E6B8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45730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BFEE-C033-BDD4-5B54-C4BC22BB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10C08F-193C-C3BC-D67E-67C3427E9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14575" y="4753409"/>
            <a:ext cx="2057400" cy="274637"/>
          </a:xfrm>
          <a:prstGeom prst="rect">
            <a:avLst/>
          </a:prstGeom>
        </p:spPr>
        <p:txBody>
          <a:bodyPr/>
          <a:lstStyle/>
          <a:p>
            <a:fld id="{B8DD8C10-B07E-442F-8FCF-BD7BB143ED32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0821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4E155-07F1-C08B-642A-0A62F0C9E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14575" y="476033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1" r:id="rId6"/>
    <p:sldLayoutId id="2147483666" r:id="rId7"/>
    <p:sldLayoutId id="2147483668" r:id="rId8"/>
    <p:sldLayoutId id="2147483669" r:id="rId9"/>
    <p:sldLayoutId id="2147483670" r:id="rId10"/>
    <p:sldLayoutId id="2147483674" r:id="rId11"/>
    <p:sldLayoutId id="2147483675" r:id="rId12"/>
    <p:sldLayoutId id="2147483676" r:id="rId13"/>
    <p:sldLayoutId id="2147483680" r:id="rId14"/>
    <p:sldLayoutId id="214748368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ptos light" panose="020B0004020202020204" pitchFamily="34" charset="0"/>
          <a:ea typeface="Aptos light" panose="020B00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ctrTitle"/>
          </p:nvPr>
        </p:nvSpPr>
        <p:spPr>
          <a:xfrm>
            <a:off x="713225" y="1422400"/>
            <a:ext cx="6919800" cy="200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Multiobjective</a:t>
            </a:r>
            <a:r>
              <a:rPr lang="en-US" sz="3600" dirty="0"/>
              <a:t> optimization of playlists using evolutionary algorithms</a:t>
            </a:r>
          </a:p>
        </p:txBody>
      </p:sp>
      <p:sp>
        <p:nvSpPr>
          <p:cNvPr id="262" name="Google Shape;262;p34"/>
          <p:cNvSpPr txBox="1">
            <a:spLocks noGrp="1"/>
          </p:cNvSpPr>
          <p:nvPr>
            <p:ph type="subTitle" idx="1"/>
          </p:nvPr>
        </p:nvSpPr>
        <p:spPr>
          <a:xfrm>
            <a:off x="713225" y="3713665"/>
            <a:ext cx="4468375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Tomislav Čupić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Supervisor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: </a:t>
            </a:r>
            <a:r>
              <a:rPr lang="hr-HR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Assoc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. </a:t>
            </a:r>
            <a:r>
              <a:rPr lang="hr-HR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Prof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. Marko </a:t>
            </a:r>
            <a:r>
              <a:rPr lang="en-US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Đurasević</a:t>
            </a:r>
            <a:r>
              <a:rPr lang="hr-HR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 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</a:t>
            </a:r>
            <a:r>
              <a:rPr lang="hr-HR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hD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endParaRPr lang="hr-HR"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8.7.2026 </a:t>
            </a:r>
            <a:endParaRPr lang="en-US"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08292D-57FA-7F84-5DBC-93A575D5CFC4}"/>
              </a:ext>
            </a:extLst>
          </p:cNvPr>
          <p:cNvSpPr txBox="1"/>
          <p:nvPr/>
        </p:nvSpPr>
        <p:spPr>
          <a:xfrm>
            <a:off x="713225" y="1221844"/>
            <a:ext cx="375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 err="1">
                <a:solidFill>
                  <a:srgbClr val="0B3550"/>
                </a:solidFill>
                <a:latin typeface="Aptos light" panose="020B0004020202020204" pitchFamily="34" charset="0"/>
              </a:rPr>
              <a:t>Master’s</a:t>
            </a:r>
            <a:r>
              <a:rPr lang="hr-HR" sz="1800" dirty="0">
                <a:solidFill>
                  <a:srgbClr val="0B3550"/>
                </a:solidFill>
                <a:latin typeface="Aptos light" panose="020B0004020202020204" pitchFamily="34" charset="0"/>
              </a:rPr>
              <a:t> </a:t>
            </a:r>
            <a:r>
              <a:rPr lang="hr-HR" sz="1800" dirty="0" err="1">
                <a:solidFill>
                  <a:srgbClr val="0B3550"/>
                </a:solidFill>
                <a:latin typeface="Aptos light" panose="020B0004020202020204" pitchFamily="34" charset="0"/>
              </a:rPr>
              <a:t>Thesis</a:t>
            </a:r>
            <a:r>
              <a:rPr lang="hr-HR" sz="1800" dirty="0">
                <a:solidFill>
                  <a:srgbClr val="0B3550"/>
                </a:solidFill>
                <a:latin typeface="Aptos light" panose="020B0004020202020204" pitchFamily="34" charset="0"/>
              </a:rPr>
              <a:t> No.1453</a:t>
            </a:r>
          </a:p>
        </p:txBody>
      </p: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9FEA61AB-826D-00DE-6B34-20C5CF20D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803" y="-88722"/>
            <a:ext cx="1450218" cy="1241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Contents</a:t>
            </a:r>
            <a:endParaRPr dirty="0"/>
          </a:p>
        </p:txBody>
      </p:sp>
      <p:sp>
        <p:nvSpPr>
          <p:cNvPr id="277" name="Google Shape;277;p36"/>
          <p:cNvSpPr txBox="1">
            <a:spLocks noGrp="1"/>
          </p:cNvSpPr>
          <p:nvPr>
            <p:ph type="subTitle" idx="3"/>
          </p:nvPr>
        </p:nvSpPr>
        <p:spPr>
          <a:xfrm>
            <a:off x="5757737" y="2793753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hr-HR" dirty="0" err="1"/>
              <a:t>Results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Visualizations</a:t>
            </a:r>
            <a:endParaRPr lang="hr-H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278" name="Google Shape;278;p36"/>
          <p:cNvSpPr txBox="1">
            <a:spLocks noGrp="1"/>
          </p:cNvSpPr>
          <p:nvPr>
            <p:ph type="subTitle" idx="1"/>
          </p:nvPr>
        </p:nvSpPr>
        <p:spPr>
          <a:xfrm>
            <a:off x="1777663" y="1761675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>
                <a:latin typeface="Aptos light" panose="020F0502020204030204" pitchFamily="34" charset="0"/>
              </a:rPr>
              <a:t>Playlists</a:t>
            </a:r>
            <a:r>
              <a:rPr lang="hr-HR" dirty="0">
                <a:latin typeface="Aptos light" panose="020F0502020204030204" pitchFamily="34" charset="0"/>
              </a:rPr>
              <a:t>, </a:t>
            </a:r>
            <a:r>
              <a:rPr lang="hr-HR" dirty="0" err="1">
                <a:latin typeface="Aptos light" panose="020F0502020204030204" pitchFamily="34" charset="0"/>
              </a:rPr>
              <a:t>multicriteria</a:t>
            </a:r>
            <a:r>
              <a:rPr lang="hr-HR" dirty="0">
                <a:latin typeface="Aptos light" panose="020F0502020204030204" pitchFamily="34" charset="0"/>
              </a:rPr>
              <a:t> </a:t>
            </a:r>
            <a:r>
              <a:rPr lang="hr-HR" dirty="0" err="1">
                <a:latin typeface="Aptos light" panose="020F0502020204030204" pitchFamily="34" charset="0"/>
              </a:rPr>
              <a:t>optimization</a:t>
            </a:r>
            <a:endParaRPr dirty="0">
              <a:latin typeface="Aptos light" panose="020F0502020204030204" pitchFamily="34" charset="0"/>
            </a:endParaRPr>
          </a:p>
        </p:txBody>
      </p:sp>
      <p:sp>
        <p:nvSpPr>
          <p:cNvPr id="279" name="Google Shape;279;p36"/>
          <p:cNvSpPr txBox="1">
            <a:spLocks noGrp="1"/>
          </p:cNvSpPr>
          <p:nvPr>
            <p:ph type="subTitle" idx="2"/>
          </p:nvPr>
        </p:nvSpPr>
        <p:spPr>
          <a:xfrm>
            <a:off x="5757738" y="1761675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Description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performance</a:t>
            </a:r>
            <a:r>
              <a:rPr lang="hr-HR" dirty="0"/>
              <a:t> </a:t>
            </a:r>
            <a:r>
              <a:rPr lang="hr-HR" dirty="0" err="1"/>
              <a:t>metrics</a:t>
            </a:r>
            <a:endParaRPr lang="hr-HR" dirty="0"/>
          </a:p>
        </p:txBody>
      </p:sp>
      <p:sp>
        <p:nvSpPr>
          <p:cNvPr id="280" name="Google Shape;280;p36"/>
          <p:cNvSpPr txBox="1">
            <a:spLocks noGrp="1"/>
          </p:cNvSpPr>
          <p:nvPr>
            <p:ph type="subTitle" idx="4"/>
          </p:nvPr>
        </p:nvSpPr>
        <p:spPr>
          <a:xfrm>
            <a:off x="1777663" y="2793759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Problem </a:t>
            </a:r>
            <a:r>
              <a:rPr lang="hr-HR" dirty="0" err="1"/>
              <a:t>setup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implementation</a:t>
            </a:r>
            <a:endParaRPr dirty="0"/>
          </a:p>
        </p:txBody>
      </p:sp>
      <p:sp>
        <p:nvSpPr>
          <p:cNvPr id="281" name="Google Shape;281;p36"/>
          <p:cNvSpPr txBox="1">
            <a:spLocks noGrp="1"/>
          </p:cNvSpPr>
          <p:nvPr>
            <p:ph type="title" idx="5"/>
          </p:nvPr>
        </p:nvSpPr>
        <p:spPr>
          <a:xfrm>
            <a:off x="876463" y="148027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82" name="Google Shape;282;p36"/>
          <p:cNvSpPr txBox="1">
            <a:spLocks noGrp="1"/>
          </p:cNvSpPr>
          <p:nvPr>
            <p:ph type="title" idx="6"/>
          </p:nvPr>
        </p:nvSpPr>
        <p:spPr>
          <a:xfrm>
            <a:off x="4856538" y="25123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title" idx="7"/>
          </p:nvPr>
        </p:nvSpPr>
        <p:spPr>
          <a:xfrm>
            <a:off x="4856538" y="148027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title" idx="8"/>
          </p:nvPr>
        </p:nvSpPr>
        <p:spPr>
          <a:xfrm>
            <a:off x="876463" y="25123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subTitle" idx="9"/>
          </p:nvPr>
        </p:nvSpPr>
        <p:spPr>
          <a:xfrm>
            <a:off x="5757737" y="3825828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Discussion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future </a:t>
            </a:r>
            <a:r>
              <a:rPr lang="hr-HR" dirty="0" err="1"/>
              <a:t>work</a:t>
            </a:r>
            <a:endParaRPr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subTitle" idx="13"/>
          </p:nvPr>
        </p:nvSpPr>
        <p:spPr>
          <a:xfrm>
            <a:off x="1777663" y="3825825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hr-HR" dirty="0" err="1"/>
              <a:t>Algorithms</a:t>
            </a:r>
            <a:r>
              <a:rPr lang="hr-HR" dirty="0"/>
              <a:t> </a:t>
            </a:r>
            <a:r>
              <a:rPr lang="hr-HR" dirty="0" err="1"/>
              <a:t>implemented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project</a:t>
            </a:r>
            <a:endParaRPr lang="hr-H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 idx="14"/>
          </p:nvPr>
        </p:nvSpPr>
        <p:spPr>
          <a:xfrm>
            <a:off x="4856538" y="35444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title" idx="15"/>
          </p:nvPr>
        </p:nvSpPr>
        <p:spPr>
          <a:xfrm>
            <a:off x="876463" y="35444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subTitle" idx="16"/>
          </p:nvPr>
        </p:nvSpPr>
        <p:spPr>
          <a:xfrm>
            <a:off x="1777661" y="1480275"/>
            <a:ext cx="2794313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/>
              <a:t>Problem </a:t>
            </a:r>
            <a:r>
              <a:rPr lang="hr-HR" sz="1800" dirty="0" err="1"/>
              <a:t>description</a:t>
            </a:r>
            <a:endParaRPr sz="1800" dirty="0"/>
          </a:p>
        </p:txBody>
      </p:sp>
      <p:sp>
        <p:nvSpPr>
          <p:cNvPr id="290" name="Google Shape;290;p36"/>
          <p:cNvSpPr txBox="1">
            <a:spLocks noGrp="1"/>
          </p:cNvSpPr>
          <p:nvPr>
            <p:ph type="subTitle" idx="17"/>
          </p:nvPr>
        </p:nvSpPr>
        <p:spPr>
          <a:xfrm>
            <a:off x="5757737" y="1480275"/>
            <a:ext cx="2806399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 err="1"/>
              <a:t>Performance</a:t>
            </a:r>
            <a:r>
              <a:rPr lang="hr-HR" sz="1800" dirty="0"/>
              <a:t> </a:t>
            </a:r>
            <a:r>
              <a:rPr lang="hr-HR" sz="1800" dirty="0" err="1"/>
              <a:t>metrics</a:t>
            </a:r>
            <a:endParaRPr sz="1800" dirty="0"/>
          </a:p>
        </p:txBody>
      </p:sp>
      <p:sp>
        <p:nvSpPr>
          <p:cNvPr id="291" name="Google Shape;291;p36"/>
          <p:cNvSpPr txBox="1">
            <a:spLocks noGrp="1"/>
          </p:cNvSpPr>
          <p:nvPr>
            <p:ph type="subTitle" idx="18"/>
          </p:nvPr>
        </p:nvSpPr>
        <p:spPr>
          <a:xfrm>
            <a:off x="5757737" y="2512350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Results</a:t>
            </a:r>
            <a:endParaRPr dirty="0"/>
          </a:p>
        </p:txBody>
      </p:sp>
      <p:sp>
        <p:nvSpPr>
          <p:cNvPr id="292" name="Google Shape;292;p36"/>
          <p:cNvSpPr txBox="1">
            <a:spLocks noGrp="1"/>
          </p:cNvSpPr>
          <p:nvPr>
            <p:ph type="subTitle" idx="19"/>
          </p:nvPr>
        </p:nvSpPr>
        <p:spPr>
          <a:xfrm>
            <a:off x="1777662" y="2512338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Implementation</a:t>
            </a:r>
            <a:endParaRPr dirty="0"/>
          </a:p>
        </p:txBody>
      </p:sp>
      <p:sp>
        <p:nvSpPr>
          <p:cNvPr id="293" name="Google Shape;293;p36"/>
          <p:cNvSpPr txBox="1">
            <a:spLocks noGrp="1"/>
          </p:cNvSpPr>
          <p:nvPr>
            <p:ph type="subTitle" idx="20"/>
          </p:nvPr>
        </p:nvSpPr>
        <p:spPr>
          <a:xfrm>
            <a:off x="5757737" y="3544425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Conclusion</a:t>
            </a:r>
            <a:endParaRPr dirty="0"/>
          </a:p>
        </p:txBody>
      </p:sp>
      <p:sp>
        <p:nvSpPr>
          <p:cNvPr id="294" name="Google Shape;294;p36"/>
          <p:cNvSpPr txBox="1">
            <a:spLocks noGrp="1"/>
          </p:cNvSpPr>
          <p:nvPr>
            <p:ph type="subTitle" idx="21"/>
          </p:nvPr>
        </p:nvSpPr>
        <p:spPr>
          <a:xfrm>
            <a:off x="1777662" y="3544425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Algorithms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C3940B-DB42-4904-6DC8-866912D1AAC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</a:t>
            </a:fld>
            <a:endParaRPr lang="hr-H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/>
              <a:t>Problem </a:t>
            </a:r>
            <a:r>
              <a:rPr lang="hr-HR" sz="3200" dirty="0" err="1"/>
              <a:t>description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626930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Theoretical</a:t>
            </a:r>
            <a:r>
              <a:rPr lang="hr-HR" dirty="0"/>
              <a:t> </a:t>
            </a:r>
            <a:r>
              <a:rPr lang="hr-HR" dirty="0" err="1"/>
              <a:t>Background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description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problem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52CD6-07E3-2EF5-08D0-9C32A7A8A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3</a:t>
            </a:fld>
            <a:endParaRPr lang="hr-H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28EA-3667-A2BD-63A6-47AA4AA2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Problem </a:t>
            </a:r>
            <a:r>
              <a:rPr lang="hr-HR" dirty="0" err="1"/>
              <a:t>Description</a:t>
            </a:r>
            <a:endParaRPr lang="hr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6F0B2-C4AA-EE83-CFC4-2860D67F5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- Music streaming</a:t>
            </a:r>
          </a:p>
          <a:p>
            <a:r>
              <a:rPr lang="hr-HR" dirty="0"/>
              <a:t>- </a:t>
            </a:r>
            <a:r>
              <a:rPr lang="hr-HR" dirty="0" err="1"/>
              <a:t>Spotify</a:t>
            </a:r>
            <a:endParaRPr lang="hr-HR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372288-CD35-1C12-FA21-AB53351ADB6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hr-HR" dirty="0" err="1"/>
              <a:t>Kaggle</a:t>
            </a:r>
            <a:endParaRPr lang="hr-HR" dirty="0"/>
          </a:p>
          <a:p>
            <a:pPr>
              <a:buFontTx/>
              <a:buChar char="-"/>
            </a:pPr>
            <a:r>
              <a:rPr lang="hr-HR" dirty="0"/>
              <a:t>30 000 </a:t>
            </a:r>
            <a:r>
              <a:rPr lang="hr-HR" dirty="0" err="1"/>
              <a:t>songs</a:t>
            </a:r>
            <a:endParaRPr lang="hr-HR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A7EEE0-BBDC-8707-6607-09BEC180D342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hr-HR" dirty="0"/>
              <a:t>- </a:t>
            </a:r>
            <a:r>
              <a:rPr lang="hr-HR" dirty="0" err="1"/>
              <a:t>Everyday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discovery</a:t>
            </a:r>
            <a:r>
              <a:rPr lang="hr-HR" dirty="0"/>
              <a:t> </a:t>
            </a:r>
            <a:r>
              <a:rPr lang="hr-HR" dirty="0" err="1"/>
              <a:t>playlists</a:t>
            </a:r>
            <a:endParaRPr lang="hr-HR" dirty="0"/>
          </a:p>
          <a:p>
            <a:r>
              <a:rPr lang="hr-HR" dirty="0"/>
              <a:t>- </a:t>
            </a:r>
            <a:r>
              <a:rPr lang="hr-HR" dirty="0" err="1"/>
              <a:t>Optimization</a:t>
            </a:r>
            <a:r>
              <a:rPr lang="hr-HR" dirty="0"/>
              <a:t> problem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BC6AE29-CF5D-8AF7-34E9-4E16A3889B2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hr-HR" sz="1800" dirty="0" err="1"/>
              <a:t>Playlists</a:t>
            </a:r>
            <a:endParaRPr lang="hr-HR" sz="1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C4B17B-7607-1E81-1702-EF4F5A9C041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lang="hr-HR" sz="1800" dirty="0" err="1"/>
              <a:t>Dataset</a:t>
            </a:r>
            <a:endParaRPr lang="hr-HR" sz="18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FA23DC3-CED9-FBB0-286A-F87AB4A71467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099859" y="2328397"/>
            <a:ext cx="4267381" cy="523500"/>
          </a:xfrm>
        </p:spPr>
        <p:txBody>
          <a:bodyPr/>
          <a:lstStyle/>
          <a:p>
            <a:r>
              <a:rPr lang="hr-HR" sz="1800" dirty="0"/>
              <a:t>Automatic </a:t>
            </a:r>
            <a:r>
              <a:rPr lang="hr-HR" sz="1800" dirty="0" err="1"/>
              <a:t>playlist</a:t>
            </a:r>
            <a:r>
              <a:rPr lang="hr-HR" sz="1800" dirty="0"/>
              <a:t> </a:t>
            </a:r>
            <a:r>
              <a:rPr lang="hr-HR" sz="1800" dirty="0" err="1"/>
              <a:t>generation</a:t>
            </a:r>
            <a:endParaRPr lang="hr-HR" sz="1800" dirty="0"/>
          </a:p>
        </p:txBody>
      </p:sp>
      <p:pic>
        <p:nvPicPr>
          <p:cNvPr id="10" name="Picture 9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882DB57B-407C-9400-C196-A5AFFBAC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771" y="3801201"/>
            <a:ext cx="1890229" cy="722735"/>
          </a:xfrm>
          <a:prstGeom prst="rect">
            <a:avLst/>
          </a:prstGeom>
        </p:spPr>
      </p:pic>
      <p:pic>
        <p:nvPicPr>
          <p:cNvPr id="12" name="Picture 11" descr="A green circle with black lines in it&#10;&#10;AI-generated content may be incorrect.">
            <a:extLst>
              <a:ext uri="{FF2B5EF4-FFF2-40B4-BE49-F238E27FC236}">
                <a16:creationId xmlns:a16="http://schemas.microsoft.com/office/drawing/2014/main" id="{6D0E5567-0393-05E8-07F9-CBA7230BA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53" y="510524"/>
            <a:ext cx="1501233" cy="1501233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C4D2B2-02E6-6BB0-E0AF-62B94AD2A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8192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Problem </a:t>
            </a:r>
            <a:r>
              <a:rPr lang="hr-HR" dirty="0" err="1"/>
              <a:t>Description</a:t>
            </a:r>
            <a:endParaRPr dirty="0"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1"/>
          </p:nvPr>
        </p:nvSpPr>
        <p:spPr>
          <a:xfrm>
            <a:off x="716625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Fitness </a:t>
            </a:r>
            <a:r>
              <a:rPr lang="hr-HR" dirty="0" err="1"/>
              <a:t>function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Finding</a:t>
            </a:r>
            <a:r>
              <a:rPr lang="hr-HR" dirty="0"/>
              <a:t> a „</a:t>
            </a:r>
            <a:r>
              <a:rPr lang="hr-HR" dirty="0" err="1"/>
              <a:t>good</a:t>
            </a:r>
            <a:r>
              <a:rPr lang="hr-HR" dirty="0"/>
              <a:t> </a:t>
            </a:r>
            <a:r>
              <a:rPr lang="hr-HR" dirty="0" err="1"/>
              <a:t>enough</a:t>
            </a:r>
            <a:r>
              <a:rPr lang="hr-HR" dirty="0"/>
              <a:t>” </a:t>
            </a:r>
            <a:r>
              <a:rPr lang="hr-HR" dirty="0" err="1"/>
              <a:t>solution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2" name="Google Shape;312;p38"/>
          <p:cNvSpPr txBox="1">
            <a:spLocks noGrp="1"/>
          </p:cNvSpPr>
          <p:nvPr>
            <p:ph type="subTitle" idx="2"/>
          </p:nvPr>
        </p:nvSpPr>
        <p:spPr>
          <a:xfrm>
            <a:off x="3349125" y="3444418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Finding</a:t>
            </a:r>
            <a:r>
              <a:rPr lang="hr-HR" dirty="0"/>
              <a:t> </a:t>
            </a:r>
            <a:r>
              <a:rPr lang="hr-HR" dirty="0" err="1"/>
              <a:t>multiple</a:t>
            </a:r>
            <a:r>
              <a:rPr lang="hr-HR" dirty="0"/>
              <a:t> </a:t>
            </a:r>
            <a:r>
              <a:rPr lang="hr-HR" dirty="0" err="1"/>
              <a:t>criteria</a:t>
            </a:r>
            <a:r>
              <a:rPr lang="hr-HR" dirty="0"/>
              <a:t> </a:t>
            </a:r>
            <a:r>
              <a:rPr lang="hr-HR" dirty="0" err="1"/>
              <a:t>simultaneosly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Optimal</a:t>
            </a:r>
            <a:r>
              <a:rPr lang="hr-HR" dirty="0"/>
              <a:t> </a:t>
            </a:r>
            <a:r>
              <a:rPr lang="hr-HR" dirty="0" err="1"/>
              <a:t>Pareto</a:t>
            </a:r>
            <a:r>
              <a:rPr lang="hr-HR" dirty="0"/>
              <a:t> front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3" name="Google Shape;313;p38"/>
          <p:cNvSpPr txBox="1">
            <a:spLocks noGrp="1"/>
          </p:cNvSpPr>
          <p:nvPr>
            <p:ph type="subTitle" idx="3"/>
          </p:nvPr>
        </p:nvSpPr>
        <p:spPr>
          <a:xfrm>
            <a:off x="5985000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Uses</a:t>
            </a:r>
            <a:r>
              <a:rPr lang="hr-HR" dirty="0"/>
              <a:t> </a:t>
            </a:r>
            <a:r>
              <a:rPr lang="hr-HR" dirty="0" err="1"/>
              <a:t>Genetic</a:t>
            </a:r>
            <a:r>
              <a:rPr lang="hr-HR" dirty="0"/>
              <a:t> </a:t>
            </a:r>
            <a:r>
              <a:rPr lang="hr-HR" dirty="0" err="1"/>
              <a:t>Operators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Selection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Crossover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Mutation</a:t>
            </a: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4" name="Google Shape;314;p38"/>
          <p:cNvSpPr txBox="1">
            <a:spLocks noGrp="1"/>
          </p:cNvSpPr>
          <p:nvPr>
            <p:ph type="subTitle" idx="4"/>
          </p:nvPr>
        </p:nvSpPr>
        <p:spPr>
          <a:xfrm>
            <a:off x="716625" y="1480225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Optimization</a:t>
            </a:r>
            <a:r>
              <a:rPr lang="hr-HR" dirty="0"/>
              <a:t> Problem</a:t>
            </a:r>
            <a:endParaRPr dirty="0"/>
          </a:p>
        </p:txBody>
      </p:sp>
      <p:sp>
        <p:nvSpPr>
          <p:cNvPr id="315" name="Google Shape;315;p38"/>
          <p:cNvSpPr txBox="1">
            <a:spLocks noGrp="1"/>
          </p:cNvSpPr>
          <p:nvPr>
            <p:ph type="subTitle" idx="5"/>
          </p:nvPr>
        </p:nvSpPr>
        <p:spPr>
          <a:xfrm>
            <a:off x="3349125" y="2245883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Multi-</a:t>
            </a:r>
            <a:r>
              <a:rPr lang="hr-HR" dirty="0" err="1"/>
              <a:t>objective</a:t>
            </a:r>
            <a:r>
              <a:rPr lang="hr-HR" dirty="0"/>
              <a:t> </a:t>
            </a:r>
            <a:r>
              <a:rPr lang="hr-HR" dirty="0" err="1"/>
              <a:t>Optimization</a:t>
            </a:r>
            <a:endParaRPr dirty="0"/>
          </a:p>
        </p:txBody>
      </p:sp>
      <p:sp>
        <p:nvSpPr>
          <p:cNvPr id="316" name="Google Shape;316;p38"/>
          <p:cNvSpPr txBox="1">
            <a:spLocks noGrp="1"/>
          </p:cNvSpPr>
          <p:nvPr>
            <p:ph type="subTitle" idx="6"/>
          </p:nvPr>
        </p:nvSpPr>
        <p:spPr>
          <a:xfrm>
            <a:off x="5988375" y="1480225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Evolutionary</a:t>
            </a:r>
            <a:r>
              <a:rPr lang="hr-HR" dirty="0"/>
              <a:t> </a:t>
            </a:r>
            <a:r>
              <a:rPr lang="hr-HR" dirty="0" err="1"/>
              <a:t>Algorithm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13C96-5DE0-F4A8-DBD0-36AC5FB7A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5</a:t>
            </a:fld>
            <a:endParaRPr lang="hr-H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4" y="2401394"/>
            <a:ext cx="3769565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 err="1"/>
              <a:t>Implementation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Setup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problem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2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D2022C-F428-3347-D2FE-33D6737AC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452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Implementation</a:t>
            </a:r>
            <a:endParaRPr dirty="0"/>
          </a:p>
        </p:txBody>
      </p:sp>
      <p:sp>
        <p:nvSpPr>
          <p:cNvPr id="646" name="Google Shape;646;p57"/>
          <p:cNvSpPr txBox="1"/>
          <p:nvPr/>
        </p:nvSpPr>
        <p:spPr>
          <a:xfrm>
            <a:off x="720000" y="1541388"/>
            <a:ext cx="7704000" cy="16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endParaRPr lang="hr-HR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Popularity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–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goal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is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an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everyday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playlist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Artist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diversity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–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Summed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across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the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playlist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Coherency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–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Feature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vector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(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energy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 tempo,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loudness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and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positivity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)</a:t>
            </a:r>
          </a:p>
          <a:p>
            <a:pPr marL="139700" lvl="1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	-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Minimized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variance</a:t>
            </a:r>
            <a:endParaRPr lang="hr-HR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647" name="Google Shape;647;p57"/>
          <p:cNvSpPr txBox="1"/>
          <p:nvPr/>
        </p:nvSpPr>
        <p:spPr>
          <a:xfrm>
            <a:off x="720000" y="3764375"/>
            <a:ext cx="38520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One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individual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–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playlist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of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100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songs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720000" y="1135313"/>
            <a:ext cx="77040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720000" y="3341675"/>
            <a:ext cx="38520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INDIVIDUAL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4572000" y="3341675"/>
            <a:ext cx="38520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IMPLEMENTATION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57"/>
          <p:cNvSpPr txBox="1"/>
          <p:nvPr/>
        </p:nvSpPr>
        <p:spPr>
          <a:xfrm>
            <a:off x="4572000" y="3764375"/>
            <a:ext cx="38520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Python –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numpy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pandas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math</a:t>
            </a:r>
            <a:endParaRPr lang="hr-HR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Plots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-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matplotlib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885297-B40D-282F-7748-04DB3440B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7551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 err="1"/>
              <a:t>Algorithms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Description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implemented</a:t>
            </a:r>
            <a:r>
              <a:rPr lang="hr-HR" dirty="0"/>
              <a:t> </a:t>
            </a:r>
            <a:r>
              <a:rPr lang="hr-HR" dirty="0" err="1"/>
              <a:t>Algorithms</a:t>
            </a:r>
            <a:endParaRPr lang="hr-HR" dirty="0"/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3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4EA191-9282-51CB-F7E9-702C556129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7710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Algorithms</a:t>
            </a:r>
            <a:endParaRPr dirty="0"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1"/>
          </p:nvPr>
        </p:nvSpPr>
        <p:spPr>
          <a:xfrm>
            <a:off x="716625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r-HR" dirty="0" err="1"/>
              <a:t>Genetic</a:t>
            </a:r>
            <a:r>
              <a:rPr lang="hr-HR" dirty="0"/>
              <a:t> </a:t>
            </a:r>
            <a:r>
              <a:rPr lang="hr-HR" dirty="0" err="1"/>
              <a:t>operators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Non-dominated</a:t>
            </a:r>
            <a:r>
              <a:rPr lang="hr-HR" dirty="0"/>
              <a:t> </a:t>
            </a:r>
            <a:r>
              <a:rPr lang="hr-HR" dirty="0" err="1"/>
              <a:t>sorting</a:t>
            </a:r>
            <a:r>
              <a:rPr lang="hr-HR" dirty="0"/>
              <a:t> </a:t>
            </a:r>
            <a:r>
              <a:rPr lang="hr-HR" dirty="0" err="1"/>
              <a:t>into</a:t>
            </a:r>
            <a:r>
              <a:rPr lang="hr-HR" dirty="0"/>
              <a:t> </a:t>
            </a:r>
            <a:r>
              <a:rPr lang="hr-HR" dirty="0" err="1"/>
              <a:t>fronts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Crowding</a:t>
            </a:r>
            <a:r>
              <a:rPr lang="hr-HR" dirty="0"/>
              <a:t> distance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38"/>
          <p:cNvSpPr txBox="1">
            <a:spLocks noGrp="1"/>
          </p:cNvSpPr>
          <p:nvPr>
            <p:ph type="subTitle" idx="2"/>
          </p:nvPr>
        </p:nvSpPr>
        <p:spPr>
          <a:xfrm>
            <a:off x="3352500" y="2423338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Extension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NSGA-II </a:t>
            </a:r>
            <a:r>
              <a:rPr lang="hr-HR" dirty="0" err="1"/>
              <a:t>algorithm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calculation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Crowding</a:t>
            </a:r>
            <a:r>
              <a:rPr lang="hr-HR" dirty="0"/>
              <a:t> distance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3" name="Google Shape;313;p38"/>
          <p:cNvSpPr txBox="1">
            <a:spLocks noGrp="1"/>
          </p:cNvSpPr>
          <p:nvPr>
            <p:ph type="subTitle" idx="3"/>
          </p:nvPr>
        </p:nvSpPr>
        <p:spPr>
          <a:xfrm>
            <a:off x="5985000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Decomposition</a:t>
            </a:r>
            <a:r>
              <a:rPr lang="hr-HR" dirty="0"/>
              <a:t> </a:t>
            </a:r>
            <a:r>
              <a:rPr lang="hr-HR" dirty="0" err="1"/>
              <a:t>into</a:t>
            </a:r>
            <a:r>
              <a:rPr lang="hr-HR" dirty="0"/>
              <a:t> </a:t>
            </a:r>
            <a:r>
              <a:rPr lang="hr-HR" dirty="0" err="1"/>
              <a:t>Subproblems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b="0" i="0" u="none" strike="noStrike" baseline="0" dirty="0" err="1"/>
              <a:t>Tchebycheff</a:t>
            </a:r>
            <a:r>
              <a:rPr lang="hr-HR" b="0" i="0" u="none" strike="noStrike" baseline="0" dirty="0"/>
              <a:t> </a:t>
            </a:r>
            <a:r>
              <a:rPr lang="hr-HR" dirty="0" err="1"/>
              <a:t>scalarization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b="0" i="0" u="none" strike="noStrike" baseline="0" dirty="0"/>
              <a:t>Referent </a:t>
            </a:r>
            <a:r>
              <a:rPr lang="hr-HR" b="0" i="0" u="none" strike="noStrike" baseline="0" dirty="0" err="1"/>
              <a:t>Points</a:t>
            </a:r>
            <a:endParaRPr lang="hr-HR" b="0" i="0" u="none" strike="noStrike" baseline="0" dirty="0"/>
          </a:p>
        </p:txBody>
      </p:sp>
      <p:sp>
        <p:nvSpPr>
          <p:cNvPr id="314" name="Google Shape;314;p38"/>
          <p:cNvSpPr txBox="1">
            <a:spLocks noGrp="1"/>
          </p:cNvSpPr>
          <p:nvPr>
            <p:ph type="subTitle" idx="4"/>
          </p:nvPr>
        </p:nvSpPr>
        <p:spPr>
          <a:xfrm>
            <a:off x="716625" y="1287164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</a:t>
            </a:r>
            <a:endParaRPr dirty="0"/>
          </a:p>
        </p:txBody>
      </p:sp>
      <p:sp>
        <p:nvSpPr>
          <p:cNvPr id="315" name="Google Shape;315;p38"/>
          <p:cNvSpPr txBox="1">
            <a:spLocks noGrp="1"/>
          </p:cNvSpPr>
          <p:nvPr>
            <p:ph type="subTitle" idx="5"/>
          </p:nvPr>
        </p:nvSpPr>
        <p:spPr>
          <a:xfrm>
            <a:off x="3352500" y="1287164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</a:t>
            </a:r>
            <a:endParaRPr dirty="0"/>
          </a:p>
        </p:txBody>
      </p:sp>
      <p:sp>
        <p:nvSpPr>
          <p:cNvPr id="316" name="Google Shape;316;p38"/>
          <p:cNvSpPr txBox="1">
            <a:spLocks noGrp="1"/>
          </p:cNvSpPr>
          <p:nvPr>
            <p:ph type="subTitle" idx="6"/>
          </p:nvPr>
        </p:nvSpPr>
        <p:spPr>
          <a:xfrm>
            <a:off x="5985000" y="1287164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MOEA/D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4B90E0-8FB3-6595-5DEF-B274F741A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2314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FB3D-4025-8157-7205-3542F7FA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4A4FD-067E-1119-2C9C-9D123BF199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97BB9D-AB97-5E0A-132D-92E71FB3558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2C0B73A-DE00-0CBC-3FB0-52AB827C051F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BC54952-05DC-5B01-B344-907D2C1A0F4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0739935-0FC3-71E1-B506-A549F6709B14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B4E2DB5-4F78-ABC7-FB2B-64DF1D6F0966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87C77C-2FD7-F6A6-1D30-C09A9E9EE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585" y="541657"/>
            <a:ext cx="6749035" cy="391576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3B044F-0C75-772E-1749-239C1C091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8385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654125" y="2514525"/>
            <a:ext cx="439925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 err="1"/>
              <a:t>Performance</a:t>
            </a:r>
            <a:r>
              <a:rPr lang="hr-HR" sz="2800" dirty="0"/>
              <a:t> </a:t>
            </a:r>
            <a:r>
              <a:rPr lang="hr-HR" sz="2800" dirty="0" err="1"/>
              <a:t>metrics</a:t>
            </a:r>
            <a:endParaRPr sz="28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Description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performance</a:t>
            </a:r>
            <a:r>
              <a:rPr lang="hr-HR" dirty="0"/>
              <a:t> </a:t>
            </a:r>
            <a:r>
              <a:rPr lang="hr-HR" dirty="0" err="1"/>
              <a:t>metrics</a:t>
            </a:r>
            <a:endParaRPr lang="hr-HR" dirty="0"/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4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F30E8-F27E-2139-41D0-A8F69D61B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9005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/>
          <p:nvPr/>
        </p:nvSpPr>
        <p:spPr>
          <a:xfrm rot="10800000" flipH="1">
            <a:off x="4874048" y="-1643616"/>
            <a:ext cx="3708000" cy="6566135"/>
          </a:xfrm>
          <a:prstGeom prst="roundRect">
            <a:avLst>
              <a:gd name="adj" fmla="val 50000"/>
            </a:avLst>
          </a:prstGeom>
          <a:solidFill>
            <a:srgbClr val="005E91">
              <a:alpha val="731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350" name="Google Shape;350;p42"/>
          <p:cNvSpPr txBox="1">
            <a:spLocks noGrp="1"/>
          </p:cNvSpPr>
          <p:nvPr>
            <p:ph type="title"/>
          </p:nvPr>
        </p:nvSpPr>
        <p:spPr>
          <a:xfrm>
            <a:off x="720000" y="877733"/>
            <a:ext cx="3287005" cy="7617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 err="1"/>
              <a:t>Performance</a:t>
            </a:r>
            <a:r>
              <a:rPr lang="hr-HR" sz="3200" dirty="0"/>
              <a:t> </a:t>
            </a:r>
            <a:r>
              <a:rPr lang="hr-HR" sz="3200" dirty="0" err="1"/>
              <a:t>metrics</a:t>
            </a:r>
            <a:endParaRPr dirty="0"/>
          </a:p>
        </p:txBody>
      </p:sp>
      <p:sp>
        <p:nvSpPr>
          <p:cNvPr id="351" name="Google Shape;351;p42"/>
          <p:cNvSpPr txBox="1">
            <a:spLocks noGrp="1"/>
          </p:cNvSpPr>
          <p:nvPr>
            <p:ph type="subTitle" idx="1"/>
          </p:nvPr>
        </p:nvSpPr>
        <p:spPr>
          <a:xfrm>
            <a:off x="720000" y="2323543"/>
            <a:ext cx="37080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b="1" dirty="0" err="1"/>
              <a:t>Hypervolume</a:t>
            </a:r>
            <a:endParaRPr lang="hr-HR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Spacing</a:t>
            </a:r>
            <a:r>
              <a:rPr lang="hr-HR" dirty="0"/>
              <a:t> – </a:t>
            </a:r>
            <a:r>
              <a:rPr lang="hr-HR" dirty="0" err="1"/>
              <a:t>Distribution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results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Generational</a:t>
            </a:r>
            <a:r>
              <a:rPr lang="hr-HR" dirty="0"/>
              <a:t> distance - </a:t>
            </a:r>
            <a:r>
              <a:rPr lang="hr-HR" dirty="0" err="1"/>
              <a:t>Convergence</a:t>
            </a:r>
            <a:endParaRPr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548274-0281-E259-0EC5-66DD4C6902C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446900" y="533850"/>
            <a:ext cx="2910000" cy="4075800"/>
          </a:xfrm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6FF59-2596-6BFA-A7B9-3059F874F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879" y="1010355"/>
            <a:ext cx="3250021" cy="2626375"/>
          </a:xfrm>
          <a:prstGeom prst="rect">
            <a:avLst/>
          </a:prstGeom>
          <a:ln w="127000" cap="rnd">
            <a:solidFill>
              <a:srgbClr val="FFFFFF"/>
            </a:solidFill>
          </a:ln>
          <a:effectLst/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A6808C7-8F24-410D-4B99-8D6EB21F4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12</a:t>
            </a:fld>
            <a:endParaRPr lang="hr-H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 err="1"/>
              <a:t>Results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hr-HR" dirty="0" err="1"/>
              <a:t>Results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Visualizations</a:t>
            </a:r>
            <a:endParaRPr lang="hr-HR" dirty="0"/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5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DB35C1-B433-E740-4C5B-0C91BB0BB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09196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EFF9-5EFB-3071-AD6C-60B4FE66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600" dirty="0" err="1"/>
              <a:t>Results</a:t>
            </a:r>
            <a:r>
              <a:rPr lang="hr-HR" sz="2600" dirty="0"/>
              <a:t> </a:t>
            </a:r>
            <a:r>
              <a:rPr lang="hr-HR" sz="2600" dirty="0" err="1"/>
              <a:t>and</a:t>
            </a:r>
            <a:r>
              <a:rPr lang="hr-HR" sz="2600" dirty="0"/>
              <a:t> </a:t>
            </a:r>
            <a:r>
              <a:rPr lang="hr-HR" sz="2600" dirty="0" err="1"/>
              <a:t>comparison</a:t>
            </a:r>
            <a:endParaRPr lang="hr-HR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C1298-B345-FE23-BA75-E8701F2714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4396AE-8154-E5CC-0909-6A67AACB2E4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510F17-525A-34FC-C335-C84769984BB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C0FFE90-0028-7D4E-9557-08DE38B0885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5660F9C-6B72-4981-46BA-1D533140D0CE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B9425BD-D17A-F6A9-85A3-02457962D1B5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3BA71E-C3AC-B62F-C99F-25FC22A1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15" y="1409700"/>
            <a:ext cx="8220570" cy="280308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4F6C0E-2047-2D4A-88C2-C90080C19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5480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40F43-D849-840B-B1C6-FCA3848B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FD692-CD2B-5FF7-A349-BFE705DA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BAF8AE8-DAB0-49AB-EA2B-061BC0F4EA0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0CB919-D2E9-A39B-8610-4A58CE92B41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035DB6-C385-EB9C-DA63-0DD9F63A9985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A957790-F132-7C65-6257-75DBEA0E243B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5E0FF68-A0CE-68DC-D1FA-1C22BFED1D43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860970-A86F-4922-C2BC-5651603B1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91" y="731375"/>
            <a:ext cx="8651498" cy="380566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C935B8D-49C8-22FE-4446-1F6379BF7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09121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64E5-1EBE-ED0F-A48E-05FFCE1B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71D3C-09D8-74DE-DCFA-932619D6C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205160"/>
            <a:ext cx="5183610" cy="1116300"/>
          </a:xfrm>
        </p:spPr>
        <p:txBody>
          <a:bodyPr/>
          <a:lstStyle/>
          <a:p>
            <a:r>
              <a:rPr lang="hr-HR" sz="1600" dirty="0"/>
              <a:t>Best </a:t>
            </a:r>
            <a:r>
              <a:rPr lang="hr-HR" sz="1600" dirty="0" err="1"/>
              <a:t>result</a:t>
            </a:r>
            <a:r>
              <a:rPr lang="hr-HR" sz="1600" dirty="0"/>
              <a:t> </a:t>
            </a:r>
            <a:r>
              <a:rPr lang="hr-HR" sz="1600" dirty="0" err="1"/>
              <a:t>in</a:t>
            </a:r>
            <a:r>
              <a:rPr lang="hr-HR" sz="1600" dirty="0"/>
              <a:t> 30 </a:t>
            </a:r>
            <a:r>
              <a:rPr lang="hr-HR" sz="1600" dirty="0" err="1"/>
              <a:t>runs</a:t>
            </a:r>
            <a:endParaRPr lang="hr-HR" sz="1600" dirty="0"/>
          </a:p>
          <a:p>
            <a:pPr>
              <a:buFontTx/>
              <a:buChar char="-"/>
            </a:pPr>
            <a:r>
              <a:rPr lang="hr-HR" sz="1600" dirty="0" err="1"/>
              <a:t>Very</a:t>
            </a:r>
            <a:r>
              <a:rPr lang="hr-HR" sz="1600" dirty="0"/>
              <a:t> </a:t>
            </a:r>
            <a:r>
              <a:rPr lang="hr-HR" sz="1600" dirty="0" err="1"/>
              <a:t>low</a:t>
            </a:r>
            <a:r>
              <a:rPr lang="hr-HR" sz="1600" dirty="0"/>
              <a:t> </a:t>
            </a:r>
            <a:r>
              <a:rPr lang="hr-HR" sz="1600" dirty="0" err="1"/>
              <a:t>coherence</a:t>
            </a:r>
            <a:r>
              <a:rPr lang="hr-HR" sz="1600" dirty="0"/>
              <a:t> </a:t>
            </a:r>
            <a:r>
              <a:rPr lang="hr-HR" sz="1600" dirty="0" err="1"/>
              <a:t>score</a:t>
            </a:r>
            <a:r>
              <a:rPr lang="hr-HR" sz="1600" dirty="0"/>
              <a:t> </a:t>
            </a:r>
            <a:r>
              <a:rPr lang="hr-HR" sz="1600" dirty="0" err="1"/>
              <a:t>and</a:t>
            </a:r>
            <a:r>
              <a:rPr lang="hr-HR" sz="1600" dirty="0"/>
              <a:t> </a:t>
            </a:r>
            <a:r>
              <a:rPr lang="hr-HR" sz="1600" dirty="0" err="1"/>
              <a:t>high</a:t>
            </a:r>
            <a:r>
              <a:rPr lang="hr-HR" sz="1600" dirty="0"/>
              <a:t> </a:t>
            </a:r>
            <a:r>
              <a:rPr lang="hr-HR" sz="1600" dirty="0" err="1"/>
              <a:t>popularity</a:t>
            </a:r>
            <a:endParaRPr lang="hr-HR" sz="1600" dirty="0"/>
          </a:p>
          <a:p>
            <a:pPr>
              <a:buFontTx/>
              <a:buChar char="-"/>
            </a:pPr>
            <a:r>
              <a:rPr lang="hr-HR" sz="1600" dirty="0" err="1"/>
              <a:t>Not</a:t>
            </a:r>
            <a:r>
              <a:rPr lang="hr-HR" sz="1600" dirty="0"/>
              <a:t> a single artist </a:t>
            </a:r>
            <a:r>
              <a:rPr lang="hr-HR" sz="1600" dirty="0" err="1"/>
              <a:t>has</a:t>
            </a:r>
            <a:r>
              <a:rPr lang="hr-HR" sz="1600" dirty="0"/>
              <a:t> </a:t>
            </a:r>
            <a:r>
              <a:rPr lang="hr-HR" sz="1600" dirty="0" err="1"/>
              <a:t>come</a:t>
            </a:r>
            <a:r>
              <a:rPr lang="hr-HR" sz="1600" dirty="0"/>
              <a:t> </a:t>
            </a:r>
            <a:r>
              <a:rPr lang="hr-HR" sz="1600" dirty="0" err="1"/>
              <a:t>up</a:t>
            </a:r>
            <a:r>
              <a:rPr lang="hr-HR" sz="1600" dirty="0"/>
              <a:t> </a:t>
            </a:r>
            <a:r>
              <a:rPr lang="hr-HR" sz="1600" dirty="0" err="1"/>
              <a:t>twice</a:t>
            </a:r>
            <a:endParaRPr lang="hr-HR" sz="160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2727C-7E3F-0864-ED8A-6278FF3830DC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435EE-7909-2CB6-67A5-1DC697244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93" y="464612"/>
            <a:ext cx="8154013" cy="228592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FCB55-1CB0-5C39-D296-59E995BD4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75750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 err="1"/>
              <a:t>Comparison</a:t>
            </a:r>
            <a:r>
              <a:rPr lang="hr-HR" sz="2800" dirty="0"/>
              <a:t> </a:t>
            </a:r>
            <a:r>
              <a:rPr lang="hr-HR" sz="2800" dirty="0" err="1"/>
              <a:t>with</a:t>
            </a:r>
            <a:r>
              <a:rPr lang="hr-HR" sz="2800" dirty="0"/>
              <a:t> a </a:t>
            </a:r>
            <a:r>
              <a:rPr lang="hr-HR" sz="2800" dirty="0" err="1"/>
              <a:t>Randomly</a:t>
            </a:r>
            <a:r>
              <a:rPr lang="hr-HR" sz="2800" dirty="0"/>
              <a:t> </a:t>
            </a:r>
            <a:r>
              <a:rPr lang="hr-HR" sz="2800" dirty="0" err="1"/>
              <a:t>Generated</a:t>
            </a:r>
            <a:r>
              <a:rPr lang="hr-HR" sz="2800" dirty="0"/>
              <a:t> </a:t>
            </a:r>
            <a:r>
              <a:rPr lang="hr-HR" sz="2800" dirty="0" err="1"/>
              <a:t>Playlist</a:t>
            </a:r>
            <a:endParaRPr sz="2800" dirty="0"/>
          </a:p>
        </p:txBody>
      </p:sp>
      <p:sp>
        <p:nvSpPr>
          <p:cNvPr id="389" name="Google Shape;389;p46"/>
          <p:cNvSpPr txBox="1">
            <a:spLocks noGrp="1"/>
          </p:cNvSpPr>
          <p:nvPr>
            <p:ph type="subTitle" idx="1"/>
          </p:nvPr>
        </p:nvSpPr>
        <p:spPr>
          <a:xfrm>
            <a:off x="530368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Significantly</a:t>
            </a:r>
            <a:r>
              <a:rPr lang="hr-HR" dirty="0"/>
              <a:t> </a:t>
            </a:r>
            <a:r>
              <a:rPr lang="hr-HR" dirty="0" err="1"/>
              <a:t>better</a:t>
            </a:r>
            <a:r>
              <a:rPr lang="hr-HR" dirty="0"/>
              <a:t> </a:t>
            </a:r>
            <a:r>
              <a:rPr lang="hr-HR" dirty="0" err="1"/>
              <a:t>coherence</a:t>
            </a: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Much</a:t>
            </a:r>
            <a:r>
              <a:rPr lang="hr-HR" dirty="0"/>
              <a:t> </a:t>
            </a:r>
            <a:r>
              <a:rPr lang="hr-HR" dirty="0" err="1"/>
              <a:t>better</a:t>
            </a:r>
            <a:r>
              <a:rPr lang="hr-HR" dirty="0"/>
              <a:t> </a:t>
            </a:r>
            <a:r>
              <a:rPr lang="hr-HR" dirty="0" err="1"/>
              <a:t>popularity</a:t>
            </a: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0" name="Google Shape;390;p46"/>
          <p:cNvSpPr txBox="1">
            <a:spLocks noGrp="1"/>
          </p:cNvSpPr>
          <p:nvPr>
            <p:ph type="subTitle" idx="2"/>
          </p:nvPr>
        </p:nvSpPr>
        <p:spPr>
          <a:xfrm>
            <a:off x="4571700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Artist </a:t>
            </a:r>
            <a:r>
              <a:rPr lang="hr-HR" dirty="0" err="1"/>
              <a:t>diversity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only</a:t>
            </a:r>
            <a:r>
              <a:rPr lang="hr-HR" dirty="0"/>
              <a:t> </a:t>
            </a:r>
            <a:r>
              <a:rPr lang="hr-HR" dirty="0" err="1"/>
              <a:t>competitive</a:t>
            </a:r>
            <a:r>
              <a:rPr lang="hr-HR" dirty="0"/>
              <a:t> </a:t>
            </a:r>
            <a:r>
              <a:rPr lang="hr-HR" dirty="0" err="1"/>
              <a:t>feature</a:t>
            </a: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Expected</a:t>
            </a:r>
            <a:r>
              <a:rPr lang="hr-HR" dirty="0"/>
              <a:t> </a:t>
            </a:r>
            <a:r>
              <a:rPr lang="hr-HR" dirty="0" err="1"/>
              <a:t>because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randomness</a:t>
            </a:r>
            <a:endParaRPr lang="hr-HR" dirty="0"/>
          </a:p>
        </p:txBody>
      </p:sp>
      <p:sp>
        <p:nvSpPr>
          <p:cNvPr id="392" name="Google Shape;392;p46"/>
          <p:cNvSpPr txBox="1">
            <a:spLocks noGrp="1"/>
          </p:cNvSpPr>
          <p:nvPr>
            <p:ph type="subTitle" idx="4"/>
          </p:nvPr>
        </p:nvSpPr>
        <p:spPr>
          <a:xfrm>
            <a:off x="39996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</a:t>
            </a:r>
            <a:endParaRPr dirty="0"/>
          </a:p>
        </p:txBody>
      </p:sp>
      <p:sp>
        <p:nvSpPr>
          <p:cNvPr id="393" name="Google Shape;393;p46"/>
          <p:cNvSpPr txBox="1">
            <a:spLocks noGrp="1"/>
          </p:cNvSpPr>
          <p:nvPr>
            <p:ph type="subTitle" idx="5"/>
          </p:nvPr>
        </p:nvSpPr>
        <p:spPr>
          <a:xfrm>
            <a:off x="457170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Nasumično generirana</a:t>
            </a:r>
            <a:endParaRPr dirty="0"/>
          </a:p>
        </p:txBody>
      </p:sp>
      <p:sp>
        <p:nvSpPr>
          <p:cNvPr id="394" name="Google Shape;394;p46"/>
          <p:cNvSpPr txBox="1">
            <a:spLocks noGrp="1"/>
          </p:cNvSpPr>
          <p:nvPr>
            <p:ph type="subTitle" idx="6"/>
          </p:nvPr>
        </p:nvSpPr>
        <p:spPr>
          <a:xfrm>
            <a:off x="720000" y="3606253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 </a:t>
            </a:r>
            <a:r>
              <a:rPr lang="hr-HR" dirty="0" err="1"/>
              <a:t>Outperformed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Random </a:t>
            </a:r>
            <a:r>
              <a:rPr lang="hr-HR" dirty="0" err="1"/>
              <a:t>Playlist</a:t>
            </a:r>
            <a:endParaRPr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AE21BAA4-21A2-A486-01D1-EF5EBA19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34027">
            <a:off x="3739760" y="2460716"/>
            <a:ext cx="442260" cy="44226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7458508C-75B0-528C-5095-C67FD783E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8802" y="2459424"/>
            <a:ext cx="489196" cy="48919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D30E9EC-F613-5C50-E97C-077A7BA2F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7474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94FD-4F1F-F0D5-A816-651DFEF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2705D-BF20-C324-5D45-4AD4189AC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A1BD6A-8ACD-A442-C126-CD04F23795C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7D9680E-ED16-34D9-AE27-F1E1C86B21A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06D0E26-2F92-4DE4-9402-FBAC3539B67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BA05AC5-DAFD-EA97-671A-530B6D761F19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842699D-2703-6126-04E9-25A50A762C7A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55B543-D7D0-2157-4B97-3108BAE61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49" y="187094"/>
            <a:ext cx="7531902" cy="457324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5E8CA9-74D2-80D3-B473-469EDB50D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93019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 err="1"/>
              <a:t>Comparison</a:t>
            </a:r>
            <a:r>
              <a:rPr lang="hr-HR" sz="2800" dirty="0"/>
              <a:t> </a:t>
            </a:r>
            <a:r>
              <a:rPr lang="hr-HR" sz="2800" dirty="0" err="1"/>
              <a:t>with</a:t>
            </a:r>
            <a:r>
              <a:rPr lang="hr-HR" sz="2800" dirty="0"/>
              <a:t> a </a:t>
            </a:r>
            <a:r>
              <a:rPr lang="hr-HR" sz="2800" dirty="0" err="1"/>
              <a:t>Manually</a:t>
            </a:r>
            <a:r>
              <a:rPr lang="hr-HR" sz="2800" dirty="0"/>
              <a:t> </a:t>
            </a:r>
            <a:r>
              <a:rPr lang="hr-HR" sz="2800" dirty="0" err="1"/>
              <a:t>Created</a:t>
            </a:r>
            <a:r>
              <a:rPr lang="hr-HR" sz="2800" dirty="0"/>
              <a:t> </a:t>
            </a:r>
            <a:r>
              <a:rPr lang="hr-HR" sz="2800" dirty="0" err="1"/>
              <a:t>Playlist</a:t>
            </a:r>
            <a:endParaRPr sz="2800" dirty="0"/>
          </a:p>
        </p:txBody>
      </p:sp>
      <p:sp>
        <p:nvSpPr>
          <p:cNvPr id="389" name="Google Shape;389;p46"/>
          <p:cNvSpPr txBox="1">
            <a:spLocks noGrp="1"/>
          </p:cNvSpPr>
          <p:nvPr>
            <p:ph type="subTitle" idx="1"/>
          </p:nvPr>
        </p:nvSpPr>
        <p:spPr>
          <a:xfrm>
            <a:off x="530368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Significantly better coherence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Much better popularity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diversity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90" name="Google Shape;390;p46"/>
          <p:cNvSpPr txBox="1">
            <a:spLocks noGrp="1"/>
          </p:cNvSpPr>
          <p:nvPr>
            <p:ph type="subTitle" idx="2"/>
          </p:nvPr>
        </p:nvSpPr>
        <p:spPr>
          <a:xfrm>
            <a:off x="4571700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Popularity</a:t>
            </a:r>
            <a:r>
              <a:rPr lang="hr-HR" dirty="0"/>
              <a:t>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competitive</a:t>
            </a: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Diversity</a:t>
            </a:r>
            <a:r>
              <a:rPr lang="hr-HR" dirty="0"/>
              <a:t>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competitive</a:t>
            </a: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Both</a:t>
            </a:r>
            <a:r>
              <a:rPr lang="hr-HR" dirty="0"/>
              <a:t> </a:t>
            </a:r>
            <a:r>
              <a:rPr lang="hr-HR" dirty="0" err="1"/>
              <a:t>inferior</a:t>
            </a:r>
            <a:r>
              <a:rPr lang="hr-HR" dirty="0"/>
              <a:t> to NSGA-III</a:t>
            </a:r>
          </a:p>
        </p:txBody>
      </p:sp>
      <p:sp>
        <p:nvSpPr>
          <p:cNvPr id="392" name="Google Shape;392;p46"/>
          <p:cNvSpPr txBox="1">
            <a:spLocks noGrp="1"/>
          </p:cNvSpPr>
          <p:nvPr>
            <p:ph type="subTitle" idx="4"/>
          </p:nvPr>
        </p:nvSpPr>
        <p:spPr>
          <a:xfrm>
            <a:off x="39996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</a:t>
            </a:r>
            <a:endParaRPr dirty="0"/>
          </a:p>
        </p:txBody>
      </p:sp>
      <p:sp>
        <p:nvSpPr>
          <p:cNvPr id="393" name="Google Shape;393;p46"/>
          <p:cNvSpPr txBox="1">
            <a:spLocks noGrp="1"/>
          </p:cNvSpPr>
          <p:nvPr>
            <p:ph type="subTitle" idx="5"/>
          </p:nvPr>
        </p:nvSpPr>
        <p:spPr>
          <a:xfrm>
            <a:off x="457170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Ručno generirana</a:t>
            </a:r>
            <a:endParaRPr dirty="0"/>
          </a:p>
        </p:txBody>
      </p:sp>
      <p:sp>
        <p:nvSpPr>
          <p:cNvPr id="394" name="Google Shape;394;p46"/>
          <p:cNvSpPr txBox="1">
            <a:spLocks noGrp="1"/>
          </p:cNvSpPr>
          <p:nvPr>
            <p:ph type="subTitle" idx="6"/>
          </p:nvPr>
        </p:nvSpPr>
        <p:spPr>
          <a:xfrm>
            <a:off x="719400" y="3628556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Playlist</a:t>
            </a:r>
            <a:r>
              <a:rPr lang="hr-HR" dirty="0"/>
              <a:t> </a:t>
            </a:r>
            <a:r>
              <a:rPr lang="hr-HR" dirty="0" err="1"/>
              <a:t>size</a:t>
            </a:r>
            <a:r>
              <a:rPr lang="hr-HR" dirty="0"/>
              <a:t> </a:t>
            </a:r>
            <a:r>
              <a:rPr lang="hr-HR" dirty="0" err="1"/>
              <a:t>reduced</a:t>
            </a:r>
            <a:r>
              <a:rPr lang="hr-HR" dirty="0"/>
              <a:t> to 65</a:t>
            </a:r>
            <a:endParaRPr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AE21BAA4-21A2-A486-01D1-EF5EBA19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34027">
            <a:off x="3739760" y="2460716"/>
            <a:ext cx="442260" cy="44226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7458508C-75B0-528C-5095-C67FD783E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8802" y="2459424"/>
            <a:ext cx="489196" cy="4891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9CC22F-FDF2-FF1B-1F9F-D5715EFFA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12411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ADA0-42BE-D23B-D828-13CDDB82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74144-89EB-F2CD-23D0-B65D188389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166C51-0B7D-82A4-1E86-1A63703660AF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A71D55-CF31-40CA-8B6F-A5E0FC57596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87137A2-74CD-5E98-A090-B7536B18F77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3D58570-25BE-D7E0-AFC7-F6E7C5E5936B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B8D7463-E7F2-19EF-32D3-C56F7D0E877D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C25A13-E66B-2D5C-1C54-4B1AC80F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11" y="760824"/>
            <a:ext cx="7368121" cy="3621851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4ED6E6-A244-DA66-82E2-DF0952AE5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46045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 err="1"/>
              <a:t>Conclusion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Discussion</a:t>
            </a:r>
            <a:r>
              <a:rPr lang="hr-HR" dirty="0"/>
              <a:t>, future </a:t>
            </a:r>
            <a:r>
              <a:rPr lang="hr-HR" dirty="0" err="1"/>
              <a:t>work</a:t>
            </a:r>
            <a:endParaRPr lang="hr-HR" dirty="0"/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6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DFDF1-BE17-8AFB-DCB0-F38D336E0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38764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Conclusion</a:t>
            </a:r>
            <a:endParaRPr dirty="0"/>
          </a:p>
        </p:txBody>
      </p:sp>
      <p:sp>
        <p:nvSpPr>
          <p:cNvPr id="403" name="Google Shape;403;p47"/>
          <p:cNvSpPr txBox="1">
            <a:spLocks noGrp="1"/>
          </p:cNvSpPr>
          <p:nvPr>
            <p:ph type="subTitle" idx="4"/>
          </p:nvPr>
        </p:nvSpPr>
        <p:spPr>
          <a:xfrm>
            <a:off x="1390005" y="1623095"/>
            <a:ext cx="3619800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 err="1"/>
              <a:t>Algorithms</a:t>
            </a:r>
            <a:r>
              <a:rPr lang="hr-HR" sz="1800" dirty="0"/>
              <a:t> </a:t>
            </a:r>
            <a:r>
              <a:rPr lang="hr-HR" sz="1800" dirty="0" err="1"/>
              <a:t>successfully</a:t>
            </a:r>
            <a:r>
              <a:rPr lang="hr-HR" sz="1800" dirty="0"/>
              <a:t> </a:t>
            </a:r>
            <a:r>
              <a:rPr lang="hr-HR" sz="1800" dirty="0" err="1"/>
              <a:t>solved</a:t>
            </a:r>
            <a:r>
              <a:rPr lang="hr-HR" sz="1800" dirty="0"/>
              <a:t> </a:t>
            </a:r>
            <a:r>
              <a:rPr lang="hr-HR" sz="1800" dirty="0" err="1"/>
              <a:t>the</a:t>
            </a:r>
            <a:r>
              <a:rPr lang="hr-HR" sz="1800" dirty="0"/>
              <a:t> problem</a:t>
            </a:r>
            <a:endParaRPr sz="1800" dirty="0"/>
          </a:p>
        </p:txBody>
      </p:sp>
      <p:sp>
        <p:nvSpPr>
          <p:cNvPr id="404" name="Google Shape;404;p47"/>
          <p:cNvSpPr txBox="1">
            <a:spLocks noGrp="1"/>
          </p:cNvSpPr>
          <p:nvPr>
            <p:ph type="subTitle" idx="5"/>
          </p:nvPr>
        </p:nvSpPr>
        <p:spPr>
          <a:xfrm>
            <a:off x="2835227" y="4174975"/>
            <a:ext cx="5297729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 err="1"/>
              <a:t>Algorithms</a:t>
            </a:r>
            <a:r>
              <a:rPr lang="hr-HR" sz="1800" dirty="0"/>
              <a:t> more </a:t>
            </a:r>
            <a:r>
              <a:rPr lang="hr-HR" sz="1800" dirty="0" err="1"/>
              <a:t>successfull</a:t>
            </a:r>
            <a:r>
              <a:rPr lang="hr-HR" sz="1800" dirty="0"/>
              <a:t> </a:t>
            </a:r>
            <a:r>
              <a:rPr lang="hr-HR" sz="1800" dirty="0" err="1"/>
              <a:t>than</a:t>
            </a:r>
            <a:r>
              <a:rPr lang="hr-HR" sz="1800" dirty="0"/>
              <a:t> </a:t>
            </a:r>
            <a:r>
              <a:rPr lang="hr-HR" sz="1800" dirty="0" err="1"/>
              <a:t>Randomly</a:t>
            </a:r>
            <a:r>
              <a:rPr lang="hr-HR" sz="1800" dirty="0"/>
              <a:t> </a:t>
            </a:r>
            <a:r>
              <a:rPr lang="hr-HR" sz="1800" dirty="0" err="1"/>
              <a:t>and</a:t>
            </a:r>
            <a:r>
              <a:rPr lang="hr-HR" sz="1800" dirty="0"/>
              <a:t> </a:t>
            </a:r>
            <a:r>
              <a:rPr lang="hr-HR" sz="1800" dirty="0" err="1"/>
              <a:t>Manually</a:t>
            </a:r>
            <a:r>
              <a:rPr lang="hr-HR" sz="1800" dirty="0"/>
              <a:t> </a:t>
            </a:r>
            <a:r>
              <a:rPr lang="hr-HR" sz="1800" dirty="0" err="1"/>
              <a:t>created</a:t>
            </a:r>
            <a:r>
              <a:rPr lang="hr-HR" sz="1800" dirty="0"/>
              <a:t> </a:t>
            </a:r>
            <a:r>
              <a:rPr lang="hr-HR" sz="1800" dirty="0" err="1"/>
              <a:t>playlists</a:t>
            </a:r>
            <a:endParaRPr sz="1800" dirty="0"/>
          </a:p>
        </p:txBody>
      </p:sp>
      <p:sp>
        <p:nvSpPr>
          <p:cNvPr id="405" name="Google Shape;405;p47"/>
          <p:cNvSpPr txBox="1">
            <a:spLocks noGrp="1"/>
          </p:cNvSpPr>
          <p:nvPr>
            <p:ph type="subTitle" idx="6"/>
          </p:nvPr>
        </p:nvSpPr>
        <p:spPr>
          <a:xfrm>
            <a:off x="3387483" y="2996906"/>
            <a:ext cx="4535009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/>
              <a:t>NSGA-III </a:t>
            </a:r>
            <a:r>
              <a:rPr lang="hr-HR" sz="1800" dirty="0" err="1"/>
              <a:t>achieved</a:t>
            </a:r>
            <a:r>
              <a:rPr lang="hr-HR" sz="1800" dirty="0"/>
              <a:t> </a:t>
            </a:r>
            <a:r>
              <a:rPr lang="hr-HR" sz="1800" dirty="0" err="1"/>
              <a:t>the</a:t>
            </a:r>
            <a:r>
              <a:rPr lang="hr-HR" sz="1800" dirty="0"/>
              <a:t> </a:t>
            </a:r>
            <a:r>
              <a:rPr lang="hr-HR" sz="1800" dirty="0" err="1"/>
              <a:t>best</a:t>
            </a:r>
            <a:r>
              <a:rPr lang="hr-HR" sz="1800" dirty="0"/>
              <a:t> </a:t>
            </a:r>
            <a:r>
              <a:rPr lang="hr-HR" sz="1800" dirty="0" err="1"/>
              <a:t>results</a:t>
            </a:r>
            <a:r>
              <a:rPr lang="hr-HR" sz="1800" dirty="0"/>
              <a:t> for </a:t>
            </a:r>
            <a:r>
              <a:rPr lang="hr-HR" sz="1800" dirty="0" err="1"/>
              <a:t>Hypervolume</a:t>
            </a:r>
            <a:r>
              <a:rPr lang="hr-HR" sz="1800" dirty="0"/>
              <a:t> </a:t>
            </a:r>
            <a:r>
              <a:rPr lang="hr-HR" sz="1800" dirty="0" err="1"/>
              <a:t>and</a:t>
            </a:r>
            <a:r>
              <a:rPr lang="hr-HR" sz="1800" dirty="0"/>
              <a:t> </a:t>
            </a:r>
            <a:r>
              <a:rPr lang="hr-HR" sz="1800" dirty="0" err="1"/>
              <a:t>Generational</a:t>
            </a:r>
            <a:r>
              <a:rPr lang="hr-HR" sz="1800" dirty="0"/>
              <a:t> Distance</a:t>
            </a:r>
            <a:endParaRPr sz="1800" dirty="0"/>
          </a:p>
        </p:txBody>
      </p:sp>
      <p:pic>
        <p:nvPicPr>
          <p:cNvPr id="3" name="Graphic 2" descr="Muscular arm with solid fill">
            <a:extLst>
              <a:ext uri="{FF2B5EF4-FFF2-40B4-BE49-F238E27FC236}">
                <a16:creationId xmlns:a16="http://schemas.microsoft.com/office/drawing/2014/main" id="{6CF5344C-0E01-E775-14C2-5AED68410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54" y="1447305"/>
            <a:ext cx="600433" cy="600433"/>
          </a:xfrm>
          <a:prstGeom prst="rect">
            <a:avLst/>
          </a:prstGeom>
        </p:spPr>
      </p:pic>
      <p:pic>
        <p:nvPicPr>
          <p:cNvPr id="9" name="Graphic 8" descr="Ribbon with solid fill">
            <a:extLst>
              <a:ext uri="{FF2B5EF4-FFF2-40B4-BE49-F238E27FC236}">
                <a16:creationId xmlns:a16="http://schemas.microsoft.com/office/drawing/2014/main" id="{73E5FEEB-53CE-164A-725C-BE518A44B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2858" y="2479094"/>
            <a:ext cx="665356" cy="665356"/>
          </a:xfrm>
          <a:prstGeom prst="rect">
            <a:avLst/>
          </a:prstGeom>
        </p:spPr>
      </p:pic>
      <p:pic>
        <p:nvPicPr>
          <p:cNvPr id="11" name="Graphic 10" descr="Star with solid fill">
            <a:extLst>
              <a:ext uri="{FF2B5EF4-FFF2-40B4-BE49-F238E27FC236}">
                <a16:creationId xmlns:a16="http://schemas.microsoft.com/office/drawing/2014/main" id="{35DDF30C-7875-ED63-C426-D1D8308D30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8979" y="3936473"/>
            <a:ext cx="687659" cy="687659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BAF104-B646-6A81-47B6-2BCF83520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7361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>
            <a:spLocks noGrp="1"/>
          </p:cNvSpPr>
          <p:nvPr>
            <p:ph type="subTitle" idx="1"/>
          </p:nvPr>
        </p:nvSpPr>
        <p:spPr>
          <a:xfrm>
            <a:off x="1121497" y="2082515"/>
            <a:ext cx="6900955" cy="23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indent="-457200" algn="r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/>
              <a:t>„</a:t>
            </a:r>
            <a:r>
              <a:rPr lang="hr-HR" dirty="0" err="1"/>
              <a:t>There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no </a:t>
            </a:r>
            <a:r>
              <a:rPr lang="hr-HR" dirty="0" err="1"/>
              <a:t>universally</a:t>
            </a:r>
            <a:r>
              <a:rPr lang="hr-HR" dirty="0"/>
              <a:t> </a:t>
            </a:r>
            <a:r>
              <a:rPr lang="hr-HR" dirty="0" err="1"/>
              <a:t>best</a:t>
            </a:r>
            <a:r>
              <a:rPr lang="hr-HR" dirty="0"/>
              <a:t> </a:t>
            </a:r>
            <a:r>
              <a:rPr lang="hr-HR" dirty="0" err="1"/>
              <a:t>algorithm</a:t>
            </a:r>
            <a:r>
              <a:rPr lang="hr-HR" dirty="0"/>
              <a:t> for </a:t>
            </a:r>
            <a:r>
              <a:rPr lang="hr-HR" dirty="0" err="1"/>
              <a:t>all</a:t>
            </a:r>
            <a:r>
              <a:rPr lang="hr-HR" dirty="0"/>
              <a:t> </a:t>
            </a:r>
            <a:r>
              <a:rPr lang="hr-HR" dirty="0" err="1"/>
              <a:t>problems</a:t>
            </a:r>
            <a:r>
              <a:rPr lang="hr-HR" dirty="0"/>
              <a:t>.”</a:t>
            </a:r>
          </a:p>
          <a:p>
            <a:pPr lvl="0" indent="-457200" algn="r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/>
              <a:t>For </a:t>
            </a:r>
            <a:r>
              <a:rPr lang="hr-HR" dirty="0" err="1"/>
              <a:t>our</a:t>
            </a:r>
            <a:r>
              <a:rPr lang="hr-HR" dirty="0"/>
              <a:t> problem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possible</a:t>
            </a:r>
            <a:r>
              <a:rPr lang="hr-HR" dirty="0"/>
              <a:t> to design a </a:t>
            </a:r>
            <a:r>
              <a:rPr lang="hr-HR" dirty="0" err="1"/>
              <a:t>better</a:t>
            </a:r>
            <a:r>
              <a:rPr lang="hr-HR" dirty="0"/>
              <a:t> </a:t>
            </a:r>
            <a:r>
              <a:rPr lang="hr-HR" dirty="0" err="1"/>
              <a:t>algorithm</a:t>
            </a:r>
            <a:r>
              <a:rPr lang="hr-HR" dirty="0"/>
              <a:t>.</a:t>
            </a:r>
          </a:p>
        </p:txBody>
      </p:sp>
      <p:sp>
        <p:nvSpPr>
          <p:cNvPr id="322" name="Google Shape;322;p39"/>
          <p:cNvSpPr txBox="1">
            <a:spLocks noGrp="1"/>
          </p:cNvSpPr>
          <p:nvPr>
            <p:ph type="title"/>
          </p:nvPr>
        </p:nvSpPr>
        <p:spPr>
          <a:xfrm>
            <a:off x="1954135" y="1216395"/>
            <a:ext cx="5853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„No free </a:t>
            </a:r>
            <a:r>
              <a:rPr lang="hr-HR" dirty="0" err="1"/>
              <a:t>lunch</a:t>
            </a:r>
            <a:r>
              <a:rPr lang="hr-HR" dirty="0"/>
              <a:t>” </a:t>
            </a:r>
            <a:r>
              <a:rPr lang="hr-HR" dirty="0" err="1"/>
              <a:t>Theorem</a:t>
            </a:r>
            <a:endParaRPr dirty="0"/>
          </a:p>
        </p:txBody>
      </p:sp>
      <p:sp>
        <p:nvSpPr>
          <p:cNvPr id="323" name="Google Shape;323;p39"/>
          <p:cNvSpPr/>
          <p:nvPr/>
        </p:nvSpPr>
        <p:spPr>
          <a:xfrm rot="5400000">
            <a:off x="8989862" y="2884570"/>
            <a:ext cx="677400" cy="1828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6041E8-9F28-7B8C-C56E-81CB54E4B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24464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1"/>
          <p:cNvSpPr txBox="1">
            <a:spLocks noGrp="1"/>
          </p:cNvSpPr>
          <p:nvPr>
            <p:ph type="title"/>
          </p:nvPr>
        </p:nvSpPr>
        <p:spPr>
          <a:xfrm>
            <a:off x="2347950" y="12463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5600" dirty="0" err="1"/>
              <a:t>Thanks</a:t>
            </a:r>
            <a:r>
              <a:rPr lang="hr-HR" sz="5600" dirty="0"/>
              <a:t> for </a:t>
            </a:r>
            <a:r>
              <a:rPr lang="hr-HR" sz="5600" dirty="0" err="1"/>
              <a:t>listening</a:t>
            </a:r>
            <a:r>
              <a:rPr lang="hr-HR" sz="5600" dirty="0"/>
              <a:t>!</a:t>
            </a:r>
            <a:endParaRPr sz="5600" dirty="0"/>
          </a:p>
        </p:txBody>
      </p:sp>
      <p:sp>
        <p:nvSpPr>
          <p:cNvPr id="715" name="Google Shape;715;p61"/>
          <p:cNvSpPr txBox="1"/>
          <p:nvPr/>
        </p:nvSpPr>
        <p:spPr>
          <a:xfrm>
            <a:off x="2496150" y="43481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2D200-9FF7-453A-B226-DCBF2B26F5FD}"/>
              </a:ext>
            </a:extLst>
          </p:cNvPr>
          <p:cNvSpPr txBox="1"/>
          <p:nvPr/>
        </p:nvSpPr>
        <p:spPr>
          <a:xfrm>
            <a:off x="2601951" y="3434576"/>
            <a:ext cx="3969834" cy="913599"/>
          </a:xfrm>
          <a:prstGeom prst="rect">
            <a:avLst/>
          </a:prstGeom>
          <a:solidFill>
            <a:srgbClr val="F6F6F6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1361B49A-194B-D1CC-A046-A314B58FE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782" y="3902303"/>
            <a:ext cx="1450218" cy="1241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8187D9-80EB-DAAF-92D2-D7BE9EC6DE21}"/>
              </a:ext>
            </a:extLst>
          </p:cNvPr>
          <p:cNvSpPr txBox="1"/>
          <p:nvPr/>
        </p:nvSpPr>
        <p:spPr>
          <a:xfrm>
            <a:off x="5047226" y="3298616"/>
            <a:ext cx="2646556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3550"/>
              </a:buClr>
              <a:buSzPts val="1400"/>
              <a:tabLst/>
              <a:defRPr/>
            </a:pPr>
            <a:r>
              <a:rPr kumimoji="0" lang="hr-HR" sz="1800" i="0" u="none" strike="noStrike" kern="0" cap="none" spc="0" normalizeH="0" baseline="0" noProof="0" dirty="0">
                <a:ln>
                  <a:noFill/>
                </a:ln>
                <a:solidFill>
                  <a:srgbClr val="0B3550"/>
                </a:solidFill>
                <a:effectLst/>
                <a:uLnTx/>
                <a:uFillTx/>
                <a:latin typeface="Aptos light" panose="020B0004020202020204" pitchFamily="34" charset="0"/>
                <a:sym typeface="Albert Sans"/>
              </a:rPr>
              <a:t>Tomislav Čupić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88508-A034-B970-9A8B-578845E4B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52164913"/>
      </p:ext>
    </p:extLst>
  </p:cSld>
  <p:clrMapOvr>
    <a:masterClrMapping/>
  </p:clrMapOvr>
</p:sld>
</file>

<file path=ppt/theme/theme1.xml><?xml version="1.0" encoding="utf-8"?>
<a:theme xmlns:a="http://schemas.openxmlformats.org/drawingml/2006/main" name="Cellular Respiration and its Impact on Health Research Thesis Defense by Slidesgo">
  <a:themeElements>
    <a:clrScheme name="Simple Light">
      <a:dk1>
        <a:srgbClr val="0B3550"/>
      </a:dk1>
      <a:lt1>
        <a:srgbClr val="F6F6F6"/>
      </a:lt1>
      <a:dk2>
        <a:srgbClr val="0584A4"/>
      </a:dk2>
      <a:lt2>
        <a:srgbClr val="74CEC4"/>
      </a:lt2>
      <a:accent1>
        <a:srgbClr val="F255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427</Words>
  <Application>Microsoft Office PowerPoint</Application>
  <PresentationFormat>On-screen Show (16:9)</PresentationFormat>
  <Paragraphs>145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Albert Sans</vt:lpstr>
      <vt:lpstr>Aptos light</vt:lpstr>
      <vt:lpstr>Aptos light</vt:lpstr>
      <vt:lpstr>Arial</vt:lpstr>
      <vt:lpstr>DM Sans</vt:lpstr>
      <vt:lpstr>Poppins</vt:lpstr>
      <vt:lpstr>Cellular Respiration and its Impact on Health Research Thesis Defense by Slidesgo</vt:lpstr>
      <vt:lpstr>Multiobjective optimization of playlists using evolutionary algorithms</vt:lpstr>
      <vt:lpstr>Contents</vt:lpstr>
      <vt:lpstr>Problem description</vt:lpstr>
      <vt:lpstr>Problem Description</vt:lpstr>
      <vt:lpstr>Problem Description</vt:lpstr>
      <vt:lpstr>Implementation</vt:lpstr>
      <vt:lpstr>Implementation</vt:lpstr>
      <vt:lpstr>Algorithms</vt:lpstr>
      <vt:lpstr>Algorithms</vt:lpstr>
      <vt:lpstr>PowerPoint Presentation</vt:lpstr>
      <vt:lpstr>Performance metrics</vt:lpstr>
      <vt:lpstr>Performance metrics</vt:lpstr>
      <vt:lpstr>Results</vt:lpstr>
      <vt:lpstr>Results and comparison</vt:lpstr>
      <vt:lpstr>PowerPoint Presentation</vt:lpstr>
      <vt:lpstr>PowerPoint Presentation</vt:lpstr>
      <vt:lpstr>Comparison with a Randomly Generated Playlist</vt:lpstr>
      <vt:lpstr>PowerPoint Presentation</vt:lpstr>
      <vt:lpstr>Comparison with a Manually Created Playlist</vt:lpstr>
      <vt:lpstr>PowerPoint Presentation</vt:lpstr>
      <vt:lpstr>Conclusion</vt:lpstr>
      <vt:lpstr>Conclusion</vt:lpstr>
      <vt:lpstr>„No free lunch” Theorem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Tomislav Čupić</cp:lastModifiedBy>
  <cp:revision>99</cp:revision>
  <dcterms:modified xsi:type="dcterms:W3CDTF">2026-07-11T10:48:08Z</dcterms:modified>
</cp:coreProperties>
</file>